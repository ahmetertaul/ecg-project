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074a76-7c39-5e42-e143-c46b0e993995}">
          <p14:sldIdLst>
            <p14:sldId id="256"/>
            <p14:sldId id="257"/>
          </p14:sldIdLst>
        </p14:section>
        <p14:section name="Data and method" id="{94e2c08b-8f0c-679c-46e6-99fdd071711d}">
          <p14:sldIdLst>
            <p14:sldId id="258"/>
            <p14:sldId id="259"/>
            <p14:sldId id="260"/>
          </p14:sldIdLst>
        </p14:section>
        <p14:section name="Results" id="{4a387767-90df-caae-84d7-0c8ad6863dd9}">
          <p14:sldIdLst>
            <p14:sldId id="261"/>
            <p14:sldId id="262"/>
            <p14:sldId id="263"/>
            <p14:sldId id="264"/>
          </p14:sldIdLst>
        </p14:section>
        <p14:section name="Conclusion" id="{fad73c23-ab66-f84b-2b80-3b5581be63b0}">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Share of beats per class (%)</a:t>
            </a:r>
          </a:p>
        </c:rich>
      </c:tx>
      <c:layout/>
      <c:overlay val="0"/>
    </c:title>
    <c:autoTitleDeleted val="0"/>
    <c:plotArea>
      <c:layout/>
      <c:barChart>
        <c:barDir val="col"/>
        <c:grouping val="clustered"/>
        <c:varyColors val="0"/>
        <c:ser>
          <c:idx val="0"/>
          <c:order val="0"/>
          <c:tx>
            <c:strRef>
              <c:f>Sheet1!$B$1</c:f>
              <c:strCache>
                <c:ptCount val="1"/>
                <c:pt idx="0">
                  <c:v>Share of training beats</c:v>
                </c:pt>
              </c:strCache>
            </c:strRef>
          </c:tx>
          <c:spPr>
            <a:solidFill>
              <a:srgbClr val="0F2A44"/>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N</c:v>
                  </c:pt>
                  <c:pt idx="1">
                    <c:v>S</c:v>
                  </c:pt>
                  <c:pt idx="2">
                    <c:v>V</c:v>
                  </c:pt>
                  <c:pt idx="3">
                    <c:v>F</c:v>
                  </c:pt>
                  <c:pt idx="4">
                    <c:v>Q</c:v>
                  </c:pt>
                </c:lvl>
              </c:multiLvlStrCache>
            </c:multiLvlStrRef>
          </c:cat>
          <c:val>
            <c:numRef>
              <c:f>Sheet1!$B$2:$B$6</c:f>
              <c:numCache>
                <c:formatCode>General</c:formatCode>
                <c:ptCount val="5"/>
                <c:pt idx="0">
                  <c:v>82.8</c:v>
                </c:pt>
                <c:pt idx="1">
                  <c:v>2.5</c:v>
                </c:pt>
                <c:pt idx="2">
                  <c:v>6.6</c:v>
                </c:pt>
                <c:pt idx="3">
                  <c:v>0.7</c:v>
                </c:pt>
                <c:pt idx="4">
                  <c:v>7.3</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Macro F1-score (mean of 3 seeds)</a:t>
            </a:r>
          </a:p>
        </c:rich>
      </c:tx>
      <c:layout/>
      <c:overlay val="0"/>
    </c:title>
    <c:autoTitleDeleted val="0"/>
    <c:plotArea>
      <c:layout/>
      <c:barChart>
        <c:barDir val="bar"/>
        <c:grouping val="stacked"/>
        <c:varyColors val="0"/>
        <c:ser>
          <c:idx val="0"/>
          <c:order val="0"/>
          <c:tx>
            <c:strRef>
              <c:f>Sheet1!$B$1</c:f>
              <c:strCache>
                <c:ptCount val="1"/>
                <c:pt idx="0">
                  <c:v>Other models</c:v>
                </c:pt>
              </c:strCache>
            </c:strRef>
          </c:tx>
          <c:spPr>
            <a:solidFill>
              <a:srgbClr val="0F2A44"/>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Logistic regression</c:v>
                  </c:pt>
                  <c:pt idx="1">
                    <c:v>LSTM*</c:v>
                  </c:pt>
                  <c:pt idx="2">
                    <c:v>Random forest</c:v>
                  </c:pt>
                  <c:pt idx="3">
                    <c:v>MLP</c:v>
                  </c:pt>
                  <c:pt idx="4">
                    <c:v>Simple 1D CNN</c:v>
                  </c:pt>
                  <c:pt idx="5">
                    <c:v>Residual CNN</c:v>
                  </c:pt>
                  <c:pt idx="6">
                    <c:v>Residual CNN + D</c:v>
                  </c:pt>
                </c:lvl>
              </c:multiLvlStrCache>
            </c:multiLvlStrRef>
          </c:cat>
          <c:val>
            <c:numRef>
              <c:f>Sheet1!$B$2:$B$8</c:f>
              <c:numCache>
                <c:formatCode>General</c:formatCode>
                <c:ptCount val="7"/>
                <c:pt idx="0">
                  <c:v>0.664</c:v>
                </c:pt>
                <c:pt idx="1">
                  <c:v>0.875</c:v>
                </c:pt>
                <c:pt idx="2">
                  <c:v>0.89</c:v>
                </c:pt>
                <c:pt idx="3">
                  <c:v>0.893</c:v>
                </c:pt>
                <c:pt idx="4">
                  <c:v>0.915</c:v>
                </c:pt>
                <c:pt idx="5">
                  <c:v>0.918</c:v>
                </c:pt>
                <c:pt idx="6">
                  <c:v>0</c:v>
                </c:pt>
              </c:numCache>
            </c:numRef>
          </c:val>
        </c:ser>
        <c:ser>
          <c:idx val="1"/>
          <c:order val="1"/>
          <c:tx>
            <c:strRef>
              <c:f>Sheet1!$C$1</c:f>
              <c:strCache>
                <c:ptCount val="1"/>
                <c:pt idx="0">
                  <c:v>Final model</c:v>
                </c:pt>
              </c:strCache>
            </c:strRef>
          </c:tx>
          <c:spPr>
            <a:solidFill>
              <a:srgbClr val="EB6834"/>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Logistic regression</c:v>
                  </c:pt>
                  <c:pt idx="1">
                    <c:v>LSTM*</c:v>
                  </c:pt>
                  <c:pt idx="2">
                    <c:v>Random forest</c:v>
                  </c:pt>
                  <c:pt idx="3">
                    <c:v>MLP</c:v>
                  </c:pt>
                  <c:pt idx="4">
                    <c:v>Simple 1D CNN</c:v>
                  </c:pt>
                  <c:pt idx="5">
                    <c:v>Residual CNN</c:v>
                  </c:pt>
                  <c:pt idx="6">
                    <c:v>Residual CNN + D</c:v>
                  </c:pt>
                </c:lvl>
              </c:multiLvlStrCache>
            </c:multiLvlStrRef>
          </c:cat>
          <c:val>
            <c:numRef>
              <c:f>Sheet1!$C$2:$C$8</c:f>
              <c:numCache>
                <c:formatCode>General</c:formatCode>
                <c:ptCount val="7"/>
                <c:pt idx="0">
                  <c:v>0</c:v>
                </c:pt>
                <c:pt idx="1">
                  <c:v>0</c:v>
                </c:pt>
                <c:pt idx="2">
                  <c:v>0</c:v>
                </c:pt>
                <c:pt idx="3">
                  <c:v>0</c:v>
                </c:pt>
                <c:pt idx="4">
                  <c:v>0</c:v>
                </c:pt>
                <c:pt idx="5">
                  <c:v>0</c:v>
                </c:pt>
                <c:pt idx="6">
                  <c:v>0.925</c:v>
                </c:pt>
              </c:numCache>
            </c:numRef>
          </c:val>
        </c:ser>
        <c:dLbls>
          <c:numFmt formatCode="0.0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projemin konusu tek tek EKG kalp atışlarının derin öğrenme ile sınıflandırılması. Alttaki çizgi veri setimizden alınmış gerçek normal atışlar. 5–10 dakikada problemi, veriyi, modelleri ve sonuçları anlatacağım.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Holter cihazıyla bir günlük kayıtta yaklaşık 100 bin atış olur (dakikada 70 atış × 1440 dakika). Bunların hepsine elle bakmak çok zaman alır ve nadir anormal atışlar gözden kaçabilir. Amacımız her atışı otomatik olarak 5 sınıftan birine ayırmak: N normal, S supraventriküler erken atış, V ventriküler erken atış, F füzyon, Q sınıflandırılamayan veya pacemaker atışı. Asıl önemli olan, nadir olan S, V ve F atışlarını yakalamak.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 seti Kaggle'daki MIT-BIH Arrhythmia veritabanından türetilmiş hazır atışlar. Her atış 187 örnek, yani 125 Hz'de yaklaşık 1,5 saniye, R tepesiyle başlıyor ve sonu sıfırla doldurulmuş. Grafik en büyük zorluğu gösteriyor: atışların yüzde 83'ü normal, füzyon sınıfı ise yüzde 1'in altında. Her şeye N diyen bir model bile yüzde 83 accuracy alır; bu yüzden ana metrik olarak macro F1 kullandım. Resmi train dosyasının yüzde 20'sini stratified validation olarak ayırdım; test setini sadece en sonda bir kez kullandım. Alttaki örneklerde N ve S atışlarının şeklen çok benzediğine dikkat 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Basitten karmaşığa ilerledim. Önce derin öğrenme olmadan neye ulaşılabildiğini görmek için Logistic Regression ve Random Forest. Sonra aynı eğitim ayarlarıyla dört sinir ağı: MLP, basit CNN, residual CNN ve LSTM. En iyi mimari üzerinde sınıf dengesizliği deneylerini yaptım. En sonda seçilen modelleri 3 farklı seed ile eğitip test setinde tek bir kez değerlendirdim; sonuçları ortalama artı eksi standart sapma olarak veriyorum. Macro F1, beş sınıfın F1 skorlarının ortalaması; nadir bir sınıf kötüyse skor belirgin düşer. Bütün kararları validation setine göre verdim, test setine dokunmadım.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model Kachuee ve arkadaşlarının 2018 makalesine dayanan residual 1D CNN. Konvolüsyon filtreleri sinyal boyunca kayıyor, böylece QRS kompleksi gibi bir şekli atışın neresinde olursa olsun buluyor. Beş residual blok var; her blokta iki konvolüsyon katmanı ve bloğun girişini çıkışa ekleyen bir skip bağlantısı var. Blok sadece girişine bir düzeltme öğreniyor ve gradyanlar ilk katmanlara daha kolay ulaşıyor. Her bloğun sonundaki max pooling sinyal uzunluğunu 187'den 2'ye indiriyor. Model yaklaşık 54 bin parametre, basit CNN'den dört kat küçük ama daha iyi.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görülen sınıflar için üç yöntem denedim. Class weight'te nadir sınıfın hatası daha çok cezalandırılıyor; F'nin ağırlığı 27 oldu, model F'yi daha çok yakaladı ama yanlış alarmlar arttı ve macro F1 düştü. Oversampling'de azınlık atışlarını kopyalayarak her sınıfı 57 bin atışa çıkardım. Macro F1 en yüksek buydu ama turuncu eğride görüldüğü gibi validation loss artıyor: model kopyaları ezberliyor. Augmentation ile her kopyaya küçük kaydırma, genlik ölçekleme ve gürültü ekledim; mavi eğri sabit kalıyor, ezberleme durdu. Gri eğri kaydırmasız deneme: kaydırmayı çıkarınca overfitting geri geliyor. C ile D arasındaki fark 0.005'ten küçük olduğu için önceden belirlediğim kurala göre daha az overfit olan D'yi seçtim.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setindeki sonuçlar, 3 seed'in ortalaması. Final modelimiz macro F1 0.925 ile en iyi; en iyi klasik model Random Forest 0.890, LSTM 0.875, Logistic Regression ise 0.664'te kaldı. CNN'ler belirgin şekilde önde, çünkü sınıflar arasındaki fark dalgaların yerel şeklinde. Dengesizlik önlemi macro F1'i dengesiz modele göre sadece 0.007 artırdı ama asıl katkısı nadir sınıflarda: S recall 0.80'den 0.86'ya, F recall 0.77'den 0.87'ye çıktı ve seed'ler arası sapma çok azaldı. LSTM'in 3 eğitiminden biri hiç öğrenemedi, her atışa N dedi; bunu validation sonucuna göre ortalamadan çıkardım ve raporda ayrıca gösterdim.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matrix'te her satır bir gerçek sınıfın nasıl tahmin edildiğini gösteriyor; 3 seed'in tahminleri birleştirildi. En büyük hata S atışlarının yüzde 12'sinin N sanılması. S atışı şeklen normale benziyor; onu ayıran şey erken gelmesi, yani ritim. Model tek bir atışa baktığı için önceki R-R aralığını göremiyor. İkinci hata F'nin yüzde 7'sinin V sanılması; füzyon atışı zaten V ile N'nin karışımı. N, V ve Q neredeyse kusursuz.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Kachuee ve arkadaşları aynı beş sınıf için yüzde 93,4 average accuracy bildirmiş, ama her sınıftan yaklaşık eşit sayıda atış içeren dengeli bir test setinde. Dengeli bir sette accuracy, sınıf recall'larının ortalamasına yani balanced accuracy'ye eşit. Bizim balanced accuracy'miz yüzde 93,5, yani aynı seviyedeyiz. Düz accuracy'miz yüzde 98,6 ama bu sadece test atışlarının yüzde 83'ünün normal olmasından. Sınırlılıklar: veri seti hasta bazlı değil atış bazlı ayrılmış, aynı hastanın atışları hem train hem testte olabilir; model ritim bilgisini görmüyor; LSTM yavaş ve kararsız.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CNN'ler atışın şeklini en iyi öğrenen modeller oldu. Oversampling ve augmentation macro F1'i çok az artırdı ama nadir sınıfların yakalanmasını belirgin şekilde iyileştirdi ve eğitimi kararlı hale getirdi. Gelecekte modeli hiç görmediği hastalarda test etmek ve R-R aralığı gibi ritim bilgisini eklemek S hatalarını azaltabilir. Kodun tamamı GitHub'da. Teşekkürler,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514600"/>
            <a:ext cx="8046720" cy="822960"/>
          </a:xfrm>
          <a:prstGeom prst="rect">
            <a:avLst/>
          </a:prstGeom>
          <a:noFill/>
          <a:ln/>
        </p:spPr>
        <p:txBody>
          <a:bodyPr wrap="square" rtlCol="0"/>
          <a:lstStyle>
            <a:lvl1pPr algn="l" indent="0" marL="0">
              <a:buNone/>
              <a:defRPr lang="en-US" sz="1600" dirty="0">
                <a:solidFill>
                  <a:srgbClr val="CADCFC"/>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463040"/>
          </a:xfrm>
          <a:prstGeom prst="rect">
            <a:avLst/>
          </a:prstGeom>
          <a:noFill/>
          <a:ln/>
        </p:spPr>
        <p:txBody>
          <a:bodyPr wrap="square" rtlCol="0" anchor="b"/>
          <a:lstStyle/>
          <a:p>
            <a:pPr algn="l" indent="0" marL="0">
              <a:buNone/>
            </a:pPr>
            <a:r>
              <a:rPr lang="en-US" sz="3400" b="1" dirty="0">
                <a:solidFill>
                  <a:schemeClr val="bg1"/>
                </a:solidFill>
              </a:rPr>
              <a:t>Deep Learning-Based Arrhythmia Classification of Individual ECG Heartbeats</a:t>
            </a:r>
            <a:endParaRPr lang="en-US" sz="3400" dirty="0"/>
          </a:p>
        </p:txBody>
      </p:sp>
      <p:sp>
        <p:nvSpPr>
          <p:cNvPr id="3" name="Text 0"/>
          <p:cNvSpPr/>
          <p:nvPr>
            <p:ph idx="101" type="body" hasCustomPrompt="1"/>
          </p:nvPr>
        </p:nvSpPr>
        <p:spPr>
          <a:xfrm>
            <a:off x="548640" y="2514600"/>
            <a:ext cx="8046720" cy="822960"/>
          </a:xfrm>
          <a:prstGeom prst="rect">
            <a:avLst/>
          </a:prstGeom>
          <a:noFill/>
          <a:ln/>
        </p:spPr>
        <p:txBody>
          <a:bodyPr wrap="square" rtlCol="0" anchor="t"/>
          <a:lstStyle/>
          <a:p>
            <a:pPr algn="l" indent="0" marL="0">
              <a:buNone/>
            </a:pPr>
            <a:r>
              <a:rPr lang="en-US" sz="1600" b="1" dirty="0">
                <a:solidFill>
                  <a:schemeClr val="bg1"/>
                </a:solidFill>
              </a:rPr>
              <a:t>Ziya Ahmet Ertaul  ·  230303056</a:t>
            </a:r>
            <a:endParaRPr lang="en-US" sz="1600" dirty="0"/>
          </a:p>
          <a:p>
            <a:pPr algn="l" indent="0" marL="0">
              <a:buNone/>
            </a:pPr>
            <a:r>
              <a:rPr lang="en-US" sz="1600" dirty="0">
                <a:solidFill>
                  <a:srgbClr val="CADCFC"/>
                </a:solidFill>
              </a:rPr>
              <a:t>LEEN364 Deep Learning and Classification Techniques  ·  Istanbul Arel University</a:t>
            </a:r>
            <a:endParaRPr lang="en-US" sz="1600" dirty="0"/>
          </a:p>
        </p:txBody>
      </p:sp>
      <p:pic>
        <p:nvPicPr>
          <p:cNvPr id="4" name="ecg-1" descr="C:\Users\USER\Desktop\VScode\ekg-project\presentation\figures\ecg_strip.png">    </p:cNvPr>
          <p:cNvPicPr>
            <a:picLocks noChangeAspect="1"/>
          </p:cNvPicPr>
          <p:nvPr/>
        </p:nvPicPr>
        <p:blipFill>
          <a:blip r:embed="rId1">
            <a:alphaModFix amt="70000"/>
          </a:blip>
          <a:stretch>
            <a:fillRect/>
          </a:stretch>
        </p:blipFill>
        <p:spPr>
          <a:xfrm>
            <a:off x="548640" y="3703320"/>
            <a:ext cx="8046720" cy="1072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Why classify single heartbeats?</a:t>
            </a:r>
            <a:endParaRPr lang="en-US" sz="3000" dirty="0"/>
          </a:p>
        </p:txBody>
      </p:sp>
      <p:sp>
        <p:nvSpPr>
          <p:cNvPr id="3" name="card-2"/>
          <p:cNvSpPr/>
          <p:nvPr/>
        </p:nvSpPr>
        <p:spPr>
          <a:xfrm>
            <a:off x="457200" y="1143000"/>
            <a:ext cx="3017520" cy="2331720"/>
          </a:xfrm>
          <a:prstGeom prst="roundRect">
            <a:avLst>
              <a:gd name="adj" fmla="val 3137"/>
            </a:avLst>
          </a:prstGeom>
          <a:solidFill>
            <a:schemeClr val="tx2"/>
          </a:solidFill>
          <a:ln w="12700">
            <a:solidFill>
              <a:schemeClr val="tx2"/>
            </a:solidFill>
            <a:prstDash val="solid"/>
          </a:ln>
        </p:spPr>
      </p:sp>
      <p:sp>
        <p:nvSpPr>
          <p:cNvPr id="4" name="text-3"/>
          <p:cNvSpPr txBox="1"/>
          <p:nvPr/>
        </p:nvSpPr>
        <p:spPr>
          <a:xfrm>
            <a:off x="685800" y="1371600"/>
            <a:ext cx="265176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~100,000</a:t>
            </a:r>
            <a:endParaRPr lang="en-US" sz="4400" dirty="0"/>
          </a:p>
        </p:txBody>
      </p:sp>
      <p:sp>
        <p:nvSpPr>
          <p:cNvPr id="5" name="text-4"/>
          <p:cNvSpPr txBox="1"/>
          <p:nvPr/>
        </p:nvSpPr>
        <p:spPr>
          <a:xfrm>
            <a:off x="685800" y="2240280"/>
            <a:ext cx="2651760" cy="91440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heartbeats in one day of a Holter ECG recording</a:t>
            </a:r>
            <a:endParaRPr lang="en-US" sz="1600" dirty="0"/>
          </a:p>
        </p:txBody>
      </p:sp>
      <p:sp>
        <p:nvSpPr>
          <p:cNvPr id="6" name="dot-5"/>
          <p:cNvSpPr/>
          <p:nvPr/>
        </p:nvSpPr>
        <p:spPr>
          <a:xfrm>
            <a:off x="3840480" y="1197864"/>
            <a:ext cx="384048" cy="384048"/>
          </a:xfrm>
          <a:prstGeom prst="ellipse">
            <a:avLst/>
          </a:prstGeom>
          <a:solidFill>
            <a:schemeClr val="accent1"/>
          </a:solidFill>
          <a:ln w="12700">
            <a:solidFill>
              <a:schemeClr val="accent1"/>
            </a:solidFill>
            <a:prstDash val="solid"/>
          </a:ln>
        </p:spPr>
      </p:sp>
      <p:sp>
        <p:nvSpPr>
          <p:cNvPr id="7" name="text-6"/>
          <p:cNvSpPr txBox="1"/>
          <p:nvPr/>
        </p:nvSpPr>
        <p:spPr>
          <a:xfrm>
            <a:off x="3840480" y="119786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text-7"/>
          <p:cNvSpPr txBox="1"/>
          <p:nvPr/>
        </p:nvSpPr>
        <p:spPr>
          <a:xfrm>
            <a:off x="4389120" y="1143000"/>
            <a:ext cx="4297680" cy="32004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Manual review is slow</a:t>
            </a:r>
            <a:endParaRPr lang="en-US" sz="1700" dirty="0"/>
          </a:p>
        </p:txBody>
      </p:sp>
      <p:sp>
        <p:nvSpPr>
          <p:cNvPr id="9" name="text-8"/>
          <p:cNvSpPr txBox="1"/>
          <p:nvPr/>
        </p:nvSpPr>
        <p:spPr>
          <a:xfrm>
            <a:off x="4389120" y="1472184"/>
            <a:ext cx="429768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Rare abnormal beats are easy to overlook.</a:t>
            </a:r>
            <a:endParaRPr lang="en-US" sz="1500" dirty="0"/>
          </a:p>
        </p:txBody>
      </p:sp>
      <p:sp>
        <p:nvSpPr>
          <p:cNvPr id="10" name="dot-9"/>
          <p:cNvSpPr/>
          <p:nvPr/>
        </p:nvSpPr>
        <p:spPr>
          <a:xfrm>
            <a:off x="3840480" y="2002536"/>
            <a:ext cx="384048" cy="384048"/>
          </a:xfrm>
          <a:prstGeom prst="ellipse">
            <a:avLst/>
          </a:prstGeom>
          <a:solidFill>
            <a:schemeClr val="accent1"/>
          </a:solidFill>
          <a:ln w="12700">
            <a:solidFill>
              <a:schemeClr val="accent1"/>
            </a:solidFill>
            <a:prstDash val="solid"/>
          </a:ln>
        </p:spPr>
      </p:sp>
      <p:sp>
        <p:nvSpPr>
          <p:cNvPr id="11" name="text-10"/>
          <p:cNvSpPr txBox="1"/>
          <p:nvPr/>
        </p:nvSpPr>
        <p:spPr>
          <a:xfrm>
            <a:off x="3840480" y="20025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2" name="text-11"/>
          <p:cNvSpPr txBox="1"/>
          <p:nvPr/>
        </p:nvSpPr>
        <p:spPr>
          <a:xfrm>
            <a:off x="4389120" y="1947672"/>
            <a:ext cx="4297680" cy="32004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Goal</a:t>
            </a:r>
            <a:endParaRPr lang="en-US" sz="1700" dirty="0"/>
          </a:p>
        </p:txBody>
      </p:sp>
      <p:sp>
        <p:nvSpPr>
          <p:cNvPr id="13" name="text-12"/>
          <p:cNvSpPr txBox="1"/>
          <p:nvPr/>
        </p:nvSpPr>
        <p:spPr>
          <a:xfrm>
            <a:off x="4389120" y="2276856"/>
            <a:ext cx="429768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Classify every beat automatically into one of 5 AAMI classes.</a:t>
            </a:r>
            <a:endParaRPr lang="en-US" sz="1500" dirty="0"/>
          </a:p>
        </p:txBody>
      </p:sp>
      <p:sp>
        <p:nvSpPr>
          <p:cNvPr id="14" name="dot-13"/>
          <p:cNvSpPr/>
          <p:nvPr/>
        </p:nvSpPr>
        <p:spPr>
          <a:xfrm>
            <a:off x="3840480" y="2807208"/>
            <a:ext cx="384048" cy="384048"/>
          </a:xfrm>
          <a:prstGeom prst="ellipse">
            <a:avLst/>
          </a:prstGeom>
          <a:solidFill>
            <a:schemeClr val="accent1"/>
          </a:solidFill>
          <a:ln w="12700">
            <a:solidFill>
              <a:schemeClr val="accent1"/>
            </a:solidFill>
            <a:prstDash val="solid"/>
          </a:ln>
        </p:spPr>
      </p:sp>
      <p:sp>
        <p:nvSpPr>
          <p:cNvPr id="15" name="text-14"/>
          <p:cNvSpPr txBox="1"/>
          <p:nvPr/>
        </p:nvSpPr>
        <p:spPr>
          <a:xfrm>
            <a:off x="3840480" y="28072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6" name="text-15"/>
          <p:cNvSpPr txBox="1"/>
          <p:nvPr/>
        </p:nvSpPr>
        <p:spPr>
          <a:xfrm>
            <a:off x="4389120" y="2752344"/>
            <a:ext cx="4297680" cy="32004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Focus</a:t>
            </a:r>
            <a:endParaRPr lang="en-US" sz="1700" dirty="0"/>
          </a:p>
        </p:txBody>
      </p:sp>
      <p:sp>
        <p:nvSpPr>
          <p:cNvPr id="17" name="text-16"/>
          <p:cNvSpPr txBox="1"/>
          <p:nvPr/>
        </p:nvSpPr>
        <p:spPr>
          <a:xfrm>
            <a:off x="4389120" y="3081528"/>
            <a:ext cx="429768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Detect the rare abnormal classes S, V and F, not only normal beats.</a:t>
            </a:r>
            <a:endParaRPr lang="en-US" sz="1500" dirty="0"/>
          </a:p>
        </p:txBody>
      </p:sp>
      <p:sp>
        <p:nvSpPr>
          <p:cNvPr id="18" name="card-17"/>
          <p:cNvSpPr/>
          <p:nvPr/>
        </p:nvSpPr>
        <p:spPr>
          <a:xfrm>
            <a:off x="457200" y="3840480"/>
            <a:ext cx="1554480" cy="685800"/>
          </a:xfrm>
          <a:prstGeom prst="roundRect">
            <a:avLst>
              <a:gd name="adj" fmla="val 10667"/>
            </a:avLst>
          </a:prstGeom>
          <a:solidFill>
            <a:schemeClr val="bg2"/>
          </a:solidFill>
          <a:ln w="12700">
            <a:solidFill>
              <a:schemeClr val="bg2"/>
            </a:solidFill>
            <a:prstDash val="solid"/>
          </a:ln>
        </p:spPr>
      </p:sp>
      <p:sp>
        <p:nvSpPr>
          <p:cNvPr id="19" name="dot-18"/>
          <p:cNvSpPr/>
          <p:nvPr/>
        </p:nvSpPr>
        <p:spPr>
          <a:xfrm>
            <a:off x="566928" y="3986784"/>
            <a:ext cx="393192" cy="393192"/>
          </a:xfrm>
          <a:prstGeom prst="ellipse">
            <a:avLst/>
          </a:prstGeom>
          <a:solidFill>
            <a:schemeClr val="accent1"/>
          </a:solidFill>
          <a:ln w="12700">
            <a:solidFill>
              <a:schemeClr val="accent1"/>
            </a:solidFill>
            <a:prstDash val="solid"/>
          </a:ln>
        </p:spPr>
      </p:sp>
      <p:sp>
        <p:nvSpPr>
          <p:cNvPr id="20" name="text-19"/>
          <p:cNvSpPr txBox="1"/>
          <p:nvPr/>
        </p:nvSpPr>
        <p:spPr>
          <a:xfrm>
            <a:off x="566928" y="398678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N</a:t>
            </a:r>
            <a:endParaRPr lang="en-US" sz="1600" dirty="0"/>
          </a:p>
        </p:txBody>
      </p:sp>
      <p:sp>
        <p:nvSpPr>
          <p:cNvPr id="21" name="text-20"/>
          <p:cNvSpPr txBox="1"/>
          <p:nvPr/>
        </p:nvSpPr>
        <p:spPr>
          <a:xfrm>
            <a:off x="1024128" y="3840480"/>
            <a:ext cx="960120" cy="6858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Normal</a:t>
            </a:r>
            <a:endParaRPr lang="en-US" sz="1200" dirty="0"/>
          </a:p>
        </p:txBody>
      </p:sp>
      <p:sp>
        <p:nvSpPr>
          <p:cNvPr id="22" name="card-21"/>
          <p:cNvSpPr/>
          <p:nvPr/>
        </p:nvSpPr>
        <p:spPr>
          <a:xfrm>
            <a:off x="2139696" y="3840480"/>
            <a:ext cx="1554480" cy="685800"/>
          </a:xfrm>
          <a:prstGeom prst="roundRect">
            <a:avLst>
              <a:gd name="adj" fmla="val 10667"/>
            </a:avLst>
          </a:prstGeom>
          <a:solidFill>
            <a:schemeClr val="bg2"/>
          </a:solidFill>
          <a:ln w="12700">
            <a:solidFill>
              <a:schemeClr val="bg2"/>
            </a:solidFill>
            <a:prstDash val="solid"/>
          </a:ln>
        </p:spPr>
      </p:sp>
      <p:sp>
        <p:nvSpPr>
          <p:cNvPr id="23" name="dot-22"/>
          <p:cNvSpPr/>
          <p:nvPr/>
        </p:nvSpPr>
        <p:spPr>
          <a:xfrm>
            <a:off x="2249424" y="3986784"/>
            <a:ext cx="393192" cy="393192"/>
          </a:xfrm>
          <a:prstGeom prst="ellipse">
            <a:avLst/>
          </a:prstGeom>
          <a:solidFill>
            <a:schemeClr val="accent2"/>
          </a:solidFill>
          <a:ln w="12700">
            <a:solidFill>
              <a:schemeClr val="accent2"/>
            </a:solidFill>
            <a:prstDash val="solid"/>
          </a:ln>
        </p:spPr>
      </p:sp>
      <p:sp>
        <p:nvSpPr>
          <p:cNvPr id="24" name="text-23"/>
          <p:cNvSpPr txBox="1"/>
          <p:nvPr/>
        </p:nvSpPr>
        <p:spPr>
          <a:xfrm>
            <a:off x="2249424" y="398678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S</a:t>
            </a:r>
            <a:endParaRPr lang="en-US" sz="1600" dirty="0"/>
          </a:p>
        </p:txBody>
      </p:sp>
      <p:sp>
        <p:nvSpPr>
          <p:cNvPr id="25" name="text-24"/>
          <p:cNvSpPr txBox="1"/>
          <p:nvPr/>
        </p:nvSpPr>
        <p:spPr>
          <a:xfrm>
            <a:off x="2706624" y="3840480"/>
            <a:ext cx="960120" cy="6858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Supra-</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ventricular</a:t>
            </a:r>
            <a:endParaRPr lang="en-US" sz="1200" dirty="0"/>
          </a:p>
        </p:txBody>
      </p:sp>
      <p:sp>
        <p:nvSpPr>
          <p:cNvPr id="26" name="card-25"/>
          <p:cNvSpPr/>
          <p:nvPr/>
        </p:nvSpPr>
        <p:spPr>
          <a:xfrm>
            <a:off x="3822192" y="3840480"/>
            <a:ext cx="1554480" cy="685800"/>
          </a:xfrm>
          <a:prstGeom prst="roundRect">
            <a:avLst>
              <a:gd name="adj" fmla="val 10667"/>
            </a:avLst>
          </a:prstGeom>
          <a:solidFill>
            <a:schemeClr val="bg2"/>
          </a:solidFill>
          <a:ln w="12700">
            <a:solidFill>
              <a:schemeClr val="bg2"/>
            </a:solidFill>
            <a:prstDash val="solid"/>
          </a:ln>
        </p:spPr>
      </p:sp>
      <p:sp>
        <p:nvSpPr>
          <p:cNvPr id="27" name="dot-26"/>
          <p:cNvSpPr/>
          <p:nvPr/>
        </p:nvSpPr>
        <p:spPr>
          <a:xfrm>
            <a:off x="3931920" y="3986784"/>
            <a:ext cx="393192" cy="393192"/>
          </a:xfrm>
          <a:prstGeom prst="ellipse">
            <a:avLst/>
          </a:prstGeom>
          <a:solidFill>
            <a:schemeClr val="accent3"/>
          </a:solidFill>
          <a:ln w="12700">
            <a:solidFill>
              <a:schemeClr val="accent3"/>
            </a:solidFill>
            <a:prstDash val="solid"/>
          </a:ln>
        </p:spPr>
      </p:sp>
      <p:sp>
        <p:nvSpPr>
          <p:cNvPr id="28" name="text-27"/>
          <p:cNvSpPr txBox="1"/>
          <p:nvPr/>
        </p:nvSpPr>
        <p:spPr>
          <a:xfrm>
            <a:off x="3931920" y="398678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V</a:t>
            </a:r>
            <a:endParaRPr lang="en-US" sz="1600" dirty="0"/>
          </a:p>
        </p:txBody>
      </p:sp>
      <p:sp>
        <p:nvSpPr>
          <p:cNvPr id="29" name="text-28"/>
          <p:cNvSpPr txBox="1"/>
          <p:nvPr/>
        </p:nvSpPr>
        <p:spPr>
          <a:xfrm>
            <a:off x="4389120" y="3840480"/>
            <a:ext cx="960120" cy="6858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Ventricular</a:t>
            </a:r>
            <a:endParaRPr lang="en-US" sz="1200" dirty="0"/>
          </a:p>
        </p:txBody>
      </p:sp>
      <p:sp>
        <p:nvSpPr>
          <p:cNvPr id="30" name="card-29"/>
          <p:cNvSpPr/>
          <p:nvPr/>
        </p:nvSpPr>
        <p:spPr>
          <a:xfrm>
            <a:off x="5504688" y="3840480"/>
            <a:ext cx="1554480" cy="685800"/>
          </a:xfrm>
          <a:prstGeom prst="roundRect">
            <a:avLst>
              <a:gd name="adj" fmla="val 10667"/>
            </a:avLst>
          </a:prstGeom>
          <a:solidFill>
            <a:schemeClr val="bg2"/>
          </a:solidFill>
          <a:ln w="12700">
            <a:solidFill>
              <a:schemeClr val="bg2"/>
            </a:solidFill>
            <a:prstDash val="solid"/>
          </a:ln>
        </p:spPr>
      </p:sp>
      <p:sp>
        <p:nvSpPr>
          <p:cNvPr id="31" name="dot-30"/>
          <p:cNvSpPr/>
          <p:nvPr/>
        </p:nvSpPr>
        <p:spPr>
          <a:xfrm>
            <a:off x="5614416" y="3986784"/>
            <a:ext cx="393192" cy="393192"/>
          </a:xfrm>
          <a:prstGeom prst="ellipse">
            <a:avLst/>
          </a:prstGeom>
          <a:solidFill>
            <a:schemeClr val="accent4"/>
          </a:solidFill>
          <a:ln w="12700">
            <a:solidFill>
              <a:schemeClr val="accent4"/>
            </a:solidFill>
            <a:prstDash val="solid"/>
          </a:ln>
        </p:spPr>
      </p:sp>
      <p:sp>
        <p:nvSpPr>
          <p:cNvPr id="32" name="text-31"/>
          <p:cNvSpPr txBox="1"/>
          <p:nvPr/>
        </p:nvSpPr>
        <p:spPr>
          <a:xfrm>
            <a:off x="5614416" y="398678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F</a:t>
            </a:r>
            <a:endParaRPr lang="en-US" sz="1600" dirty="0"/>
          </a:p>
        </p:txBody>
      </p:sp>
      <p:sp>
        <p:nvSpPr>
          <p:cNvPr id="33" name="text-32"/>
          <p:cNvSpPr txBox="1"/>
          <p:nvPr/>
        </p:nvSpPr>
        <p:spPr>
          <a:xfrm>
            <a:off x="6071616" y="3840480"/>
            <a:ext cx="960120" cy="6858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Fusion</a:t>
            </a:r>
            <a:endParaRPr lang="en-US" sz="1200" dirty="0"/>
          </a:p>
        </p:txBody>
      </p:sp>
      <p:sp>
        <p:nvSpPr>
          <p:cNvPr id="34" name="card-33"/>
          <p:cNvSpPr/>
          <p:nvPr/>
        </p:nvSpPr>
        <p:spPr>
          <a:xfrm>
            <a:off x="7187184" y="3840480"/>
            <a:ext cx="1554480" cy="685800"/>
          </a:xfrm>
          <a:prstGeom prst="roundRect">
            <a:avLst>
              <a:gd name="adj" fmla="val 10667"/>
            </a:avLst>
          </a:prstGeom>
          <a:solidFill>
            <a:schemeClr val="bg2"/>
          </a:solidFill>
          <a:ln w="12700">
            <a:solidFill>
              <a:schemeClr val="bg2"/>
            </a:solidFill>
            <a:prstDash val="solid"/>
          </a:ln>
        </p:spPr>
      </p:sp>
      <p:sp>
        <p:nvSpPr>
          <p:cNvPr id="35" name="dot-34"/>
          <p:cNvSpPr/>
          <p:nvPr/>
        </p:nvSpPr>
        <p:spPr>
          <a:xfrm>
            <a:off x="7296912" y="3986784"/>
            <a:ext cx="393192" cy="393192"/>
          </a:xfrm>
          <a:prstGeom prst="ellipse">
            <a:avLst/>
          </a:prstGeom>
          <a:solidFill>
            <a:schemeClr val="accent5"/>
          </a:solidFill>
          <a:ln w="12700">
            <a:solidFill>
              <a:schemeClr val="accent5"/>
            </a:solidFill>
            <a:prstDash val="solid"/>
          </a:ln>
        </p:spPr>
      </p:sp>
      <p:sp>
        <p:nvSpPr>
          <p:cNvPr id="36" name="text-35"/>
          <p:cNvSpPr txBox="1"/>
          <p:nvPr/>
        </p:nvSpPr>
        <p:spPr>
          <a:xfrm>
            <a:off x="7296912" y="398678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Q</a:t>
            </a:r>
            <a:endParaRPr lang="en-US" sz="1600" dirty="0"/>
          </a:p>
        </p:txBody>
      </p:sp>
      <p:sp>
        <p:nvSpPr>
          <p:cNvPr id="37" name="text-36"/>
          <p:cNvSpPr txBox="1"/>
          <p:nvPr/>
        </p:nvSpPr>
        <p:spPr>
          <a:xfrm>
            <a:off x="7754112" y="3840480"/>
            <a:ext cx="960120" cy="6858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Unknown / paced</a:t>
            </a:r>
            <a:endParaRPr lang="en-US" sz="12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Dataset: MIT-BIH heartbeats</a:t>
            </a:r>
            <a:endParaRPr lang="en-US" sz="3000" dirty="0"/>
          </a:p>
        </p:txBody>
      </p:sp>
      <p:graphicFrame>
        <p:nvGraphicFramePr>
          <p:cNvPr id="3" name="chart-37" descr=""/>
          <p:cNvGraphicFramePr/>
          <p:nvPr/>
        </p:nvGraphicFramePr>
        <p:xfrm>
          <a:off x="365760" y="1005840"/>
          <a:ext cx="4206240" cy="2148840"/>
        </p:xfrm>
        <a:graphic xmlns:a="http://schemas.openxmlformats.org/drawingml/2006/main">
          <a:graphicData uri="http://schemas.openxmlformats.org/drawingml/2006/chart">
            <c:chart xmlns:c="http://schemas.openxmlformats.org/drawingml/2006/chart" r:id="rId1"/>
          </a:graphicData>
        </a:graphic>
      </p:graphicFrame>
      <p:sp>
        <p:nvSpPr>
          <p:cNvPr id="4" name="text-38"/>
          <p:cNvSpPr txBox="1"/>
          <p:nvPr/>
        </p:nvSpPr>
        <p:spPr>
          <a:xfrm>
            <a:off x="4937760" y="1097280"/>
            <a:ext cx="37490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109,446</a:t>
            </a:r>
            <a:endParaRPr lang="en-US" sz="2200" dirty="0"/>
          </a:p>
        </p:txBody>
      </p:sp>
      <p:sp>
        <p:nvSpPr>
          <p:cNvPr id="5" name="text-39"/>
          <p:cNvSpPr txBox="1"/>
          <p:nvPr/>
        </p:nvSpPr>
        <p:spPr>
          <a:xfrm>
            <a:off x="4937760" y="1463040"/>
            <a:ext cx="3749040" cy="2743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segmented heartbeats</a:t>
            </a:r>
            <a:endParaRPr lang="en-US" sz="1400" dirty="0"/>
          </a:p>
        </p:txBody>
      </p:sp>
      <p:sp>
        <p:nvSpPr>
          <p:cNvPr id="6" name="text-40"/>
          <p:cNvSpPr txBox="1"/>
          <p:nvPr/>
        </p:nvSpPr>
        <p:spPr>
          <a:xfrm>
            <a:off x="4937760" y="1783080"/>
            <a:ext cx="37490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187</a:t>
            </a:r>
            <a:endParaRPr lang="en-US" sz="2200" dirty="0"/>
          </a:p>
        </p:txBody>
      </p:sp>
      <p:sp>
        <p:nvSpPr>
          <p:cNvPr id="7" name="text-41"/>
          <p:cNvSpPr txBox="1"/>
          <p:nvPr/>
        </p:nvSpPr>
        <p:spPr>
          <a:xfrm>
            <a:off x="4937760" y="2148840"/>
            <a:ext cx="3749040" cy="2743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samples per beat (1.5 s at 125 Hz)</a:t>
            </a:r>
            <a:endParaRPr lang="en-US" sz="1400" dirty="0"/>
          </a:p>
        </p:txBody>
      </p:sp>
      <p:sp>
        <p:nvSpPr>
          <p:cNvPr id="8" name="text-42"/>
          <p:cNvSpPr txBox="1"/>
          <p:nvPr/>
        </p:nvSpPr>
        <p:spPr>
          <a:xfrm>
            <a:off x="4937760" y="2468880"/>
            <a:ext cx="37490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70k / 17.5k / 21.9k</a:t>
            </a:r>
            <a:endParaRPr lang="en-US" sz="2200" dirty="0"/>
          </a:p>
        </p:txBody>
      </p:sp>
      <p:sp>
        <p:nvSpPr>
          <p:cNvPr id="9" name="text-43"/>
          <p:cNvSpPr txBox="1"/>
          <p:nvPr/>
        </p:nvSpPr>
        <p:spPr>
          <a:xfrm>
            <a:off x="4937760" y="2834640"/>
            <a:ext cx="3749040" cy="2743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train / validation / test</a:t>
            </a:r>
            <a:endParaRPr lang="en-US" sz="1400" dirty="0"/>
          </a:p>
        </p:txBody>
      </p:sp>
      <p:pic>
        <p:nvPicPr>
          <p:cNvPr id="10" name="beats-44" descr="C:\Users\USER\Desktop\VScode\ekg-project\presentation\figures\beats_per_class.png">    </p:cNvPr>
          <p:cNvPicPr>
            <a:picLocks noChangeAspect="1"/>
          </p:cNvPicPr>
          <p:nvPr/>
        </p:nvPicPr>
        <p:blipFill>
          <a:blip r:embed="rId2"/>
          <a:stretch>
            <a:fillRect/>
          </a:stretch>
        </p:blipFill>
        <p:spPr>
          <a:xfrm>
            <a:off x="457200" y="3246120"/>
            <a:ext cx="8229600" cy="1709225"/>
          </a:xfrm>
          <a:prstGeom prst="rect">
            <a:avLst/>
          </a:prstGeom>
        </p:spPr>
      </p:pic>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Method: from baselines to the final model</a:t>
            </a:r>
            <a:endParaRPr lang="en-US" sz="3000" dirty="0"/>
          </a:p>
        </p:txBody>
      </p:sp>
      <p:sp>
        <p:nvSpPr>
          <p:cNvPr id="3" name="card-45"/>
          <p:cNvSpPr/>
          <p:nvPr/>
        </p:nvSpPr>
        <p:spPr>
          <a:xfrm>
            <a:off x="457200" y="1188720"/>
            <a:ext cx="1517904" cy="1920240"/>
          </a:xfrm>
          <a:prstGeom prst="roundRect">
            <a:avLst>
              <a:gd name="adj" fmla="val 4819"/>
            </a:avLst>
          </a:prstGeom>
          <a:solidFill>
            <a:schemeClr val="bg2"/>
          </a:solidFill>
          <a:ln w="12700">
            <a:solidFill>
              <a:schemeClr val="bg2"/>
            </a:solidFill>
            <a:prstDash val="solid"/>
          </a:ln>
        </p:spPr>
      </p:sp>
      <p:sp>
        <p:nvSpPr>
          <p:cNvPr id="4" name="dot-46"/>
          <p:cNvSpPr/>
          <p:nvPr/>
        </p:nvSpPr>
        <p:spPr>
          <a:xfrm>
            <a:off x="594360" y="1325880"/>
            <a:ext cx="384048" cy="384048"/>
          </a:xfrm>
          <a:prstGeom prst="ellipse">
            <a:avLst/>
          </a:prstGeom>
          <a:solidFill>
            <a:schemeClr val="accent1"/>
          </a:solidFill>
          <a:ln w="12700">
            <a:solidFill>
              <a:schemeClr val="accent1"/>
            </a:solidFill>
            <a:prstDash val="solid"/>
          </a:ln>
        </p:spPr>
      </p:sp>
      <p:sp>
        <p:nvSpPr>
          <p:cNvPr id="5" name="text-47"/>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48"/>
          <p:cNvSpPr txBox="1"/>
          <p:nvPr/>
        </p:nvSpPr>
        <p:spPr>
          <a:xfrm>
            <a:off x="594360" y="1828800"/>
            <a:ext cx="1280160"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Split</a:t>
            </a:r>
            <a:endParaRPr lang="en-US" sz="1500" dirty="0"/>
          </a:p>
        </p:txBody>
      </p:sp>
      <p:sp>
        <p:nvSpPr>
          <p:cNvPr id="7" name="text-49"/>
          <p:cNvSpPr txBox="1"/>
          <p:nvPr/>
        </p:nvSpPr>
        <p:spPr>
          <a:xfrm>
            <a:off x="594360" y="2395728"/>
            <a:ext cx="128016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Train, validation and an untouched test set</a:t>
            </a:r>
            <a:endParaRPr lang="en-US" sz="1200" dirty="0"/>
          </a:p>
        </p:txBody>
      </p:sp>
      <p:sp>
        <p:nvSpPr>
          <p:cNvPr id="8" name="card-50"/>
          <p:cNvSpPr/>
          <p:nvPr/>
        </p:nvSpPr>
        <p:spPr>
          <a:xfrm>
            <a:off x="2139696" y="1188720"/>
            <a:ext cx="1517904" cy="1920240"/>
          </a:xfrm>
          <a:prstGeom prst="roundRect">
            <a:avLst>
              <a:gd name="adj" fmla="val 4819"/>
            </a:avLst>
          </a:prstGeom>
          <a:solidFill>
            <a:schemeClr val="bg2"/>
          </a:solidFill>
          <a:ln w="12700">
            <a:solidFill>
              <a:schemeClr val="bg2"/>
            </a:solidFill>
            <a:prstDash val="solid"/>
          </a:ln>
        </p:spPr>
      </p:sp>
      <p:sp>
        <p:nvSpPr>
          <p:cNvPr id="9" name="dot-51"/>
          <p:cNvSpPr/>
          <p:nvPr/>
        </p:nvSpPr>
        <p:spPr>
          <a:xfrm>
            <a:off x="2276856" y="1325880"/>
            <a:ext cx="384048" cy="384048"/>
          </a:xfrm>
          <a:prstGeom prst="ellipse">
            <a:avLst/>
          </a:prstGeom>
          <a:solidFill>
            <a:schemeClr val="accent1"/>
          </a:solidFill>
          <a:ln w="12700">
            <a:solidFill>
              <a:schemeClr val="accent1"/>
            </a:solidFill>
            <a:prstDash val="solid"/>
          </a:ln>
        </p:spPr>
      </p:sp>
      <p:sp>
        <p:nvSpPr>
          <p:cNvPr id="10" name="text-52"/>
          <p:cNvSpPr txBox="1"/>
          <p:nvPr/>
        </p:nvSpPr>
        <p:spPr>
          <a:xfrm>
            <a:off x="2276856"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53"/>
          <p:cNvSpPr txBox="1"/>
          <p:nvPr/>
        </p:nvSpPr>
        <p:spPr>
          <a:xfrm>
            <a:off x="2276856" y="1828800"/>
            <a:ext cx="1280160"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Baselines</a:t>
            </a:r>
            <a:endParaRPr lang="en-US" sz="1500" dirty="0"/>
          </a:p>
        </p:txBody>
      </p:sp>
      <p:sp>
        <p:nvSpPr>
          <p:cNvPr id="12" name="text-54"/>
          <p:cNvSpPr txBox="1"/>
          <p:nvPr/>
        </p:nvSpPr>
        <p:spPr>
          <a:xfrm>
            <a:off x="2276856" y="2395728"/>
            <a:ext cx="128016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Logistic regression and random forest</a:t>
            </a:r>
            <a:endParaRPr lang="en-US" sz="1200" dirty="0"/>
          </a:p>
        </p:txBody>
      </p:sp>
      <p:sp>
        <p:nvSpPr>
          <p:cNvPr id="13" name="card-55"/>
          <p:cNvSpPr/>
          <p:nvPr/>
        </p:nvSpPr>
        <p:spPr>
          <a:xfrm>
            <a:off x="3822192" y="1188720"/>
            <a:ext cx="1517904" cy="1920240"/>
          </a:xfrm>
          <a:prstGeom prst="roundRect">
            <a:avLst>
              <a:gd name="adj" fmla="val 4819"/>
            </a:avLst>
          </a:prstGeom>
          <a:solidFill>
            <a:schemeClr val="bg2"/>
          </a:solidFill>
          <a:ln w="12700">
            <a:solidFill>
              <a:schemeClr val="bg2"/>
            </a:solidFill>
            <a:prstDash val="solid"/>
          </a:ln>
        </p:spPr>
      </p:sp>
      <p:sp>
        <p:nvSpPr>
          <p:cNvPr id="14" name="dot-56"/>
          <p:cNvSpPr/>
          <p:nvPr/>
        </p:nvSpPr>
        <p:spPr>
          <a:xfrm>
            <a:off x="3959352" y="1325880"/>
            <a:ext cx="384048" cy="384048"/>
          </a:xfrm>
          <a:prstGeom prst="ellipse">
            <a:avLst/>
          </a:prstGeom>
          <a:solidFill>
            <a:schemeClr val="accent1"/>
          </a:solidFill>
          <a:ln w="12700">
            <a:solidFill>
              <a:schemeClr val="accent1"/>
            </a:solidFill>
            <a:prstDash val="solid"/>
          </a:ln>
        </p:spPr>
      </p:sp>
      <p:sp>
        <p:nvSpPr>
          <p:cNvPr id="15" name="text-57"/>
          <p:cNvSpPr txBox="1"/>
          <p:nvPr/>
        </p:nvSpPr>
        <p:spPr>
          <a:xfrm>
            <a:off x="395935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6" name="text-58"/>
          <p:cNvSpPr txBox="1"/>
          <p:nvPr/>
        </p:nvSpPr>
        <p:spPr>
          <a:xfrm>
            <a:off x="3959352" y="1828800"/>
            <a:ext cx="1280160"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Neural networks</a:t>
            </a:r>
            <a:endParaRPr lang="en-US" sz="1500" dirty="0"/>
          </a:p>
        </p:txBody>
      </p:sp>
      <p:sp>
        <p:nvSpPr>
          <p:cNvPr id="17" name="text-59"/>
          <p:cNvSpPr txBox="1"/>
          <p:nvPr/>
        </p:nvSpPr>
        <p:spPr>
          <a:xfrm>
            <a:off x="3959352" y="2395728"/>
            <a:ext cx="128016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MLP, simple CNN, residual CNN, LSTM</a:t>
            </a:r>
            <a:endParaRPr lang="en-US" sz="1200" dirty="0"/>
          </a:p>
        </p:txBody>
      </p:sp>
      <p:sp>
        <p:nvSpPr>
          <p:cNvPr id="18" name="card-60"/>
          <p:cNvSpPr/>
          <p:nvPr/>
        </p:nvSpPr>
        <p:spPr>
          <a:xfrm>
            <a:off x="5504688" y="1188720"/>
            <a:ext cx="1517904" cy="1920240"/>
          </a:xfrm>
          <a:prstGeom prst="roundRect">
            <a:avLst>
              <a:gd name="adj" fmla="val 4819"/>
            </a:avLst>
          </a:prstGeom>
          <a:solidFill>
            <a:schemeClr val="bg2"/>
          </a:solidFill>
          <a:ln w="12700">
            <a:solidFill>
              <a:schemeClr val="bg2"/>
            </a:solidFill>
            <a:prstDash val="solid"/>
          </a:ln>
        </p:spPr>
      </p:sp>
      <p:sp>
        <p:nvSpPr>
          <p:cNvPr id="19" name="dot-61"/>
          <p:cNvSpPr/>
          <p:nvPr/>
        </p:nvSpPr>
        <p:spPr>
          <a:xfrm>
            <a:off x="5641848" y="1325880"/>
            <a:ext cx="384048" cy="384048"/>
          </a:xfrm>
          <a:prstGeom prst="ellipse">
            <a:avLst/>
          </a:prstGeom>
          <a:solidFill>
            <a:schemeClr val="accent1"/>
          </a:solidFill>
          <a:ln w="12700">
            <a:solidFill>
              <a:schemeClr val="accent1"/>
            </a:solidFill>
            <a:prstDash val="solid"/>
          </a:ln>
        </p:spPr>
      </p:sp>
      <p:sp>
        <p:nvSpPr>
          <p:cNvPr id="20" name="text-62"/>
          <p:cNvSpPr txBox="1"/>
          <p:nvPr/>
        </p:nvSpPr>
        <p:spPr>
          <a:xfrm>
            <a:off x="5641848"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1" name="text-63"/>
          <p:cNvSpPr txBox="1"/>
          <p:nvPr/>
        </p:nvSpPr>
        <p:spPr>
          <a:xfrm>
            <a:off x="5641848" y="1828800"/>
            <a:ext cx="1280160"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Imbalance study</a:t>
            </a:r>
            <a:endParaRPr lang="en-US" sz="1500" dirty="0"/>
          </a:p>
        </p:txBody>
      </p:sp>
      <p:sp>
        <p:nvSpPr>
          <p:cNvPr id="22" name="text-64"/>
          <p:cNvSpPr txBox="1"/>
          <p:nvPr/>
        </p:nvSpPr>
        <p:spPr>
          <a:xfrm>
            <a:off x="5641848" y="2395728"/>
            <a:ext cx="128016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Class weights, oversampling, augmentation</a:t>
            </a:r>
            <a:endParaRPr lang="en-US" sz="1200" dirty="0"/>
          </a:p>
        </p:txBody>
      </p:sp>
      <p:sp>
        <p:nvSpPr>
          <p:cNvPr id="23" name="card-65"/>
          <p:cNvSpPr/>
          <p:nvPr/>
        </p:nvSpPr>
        <p:spPr>
          <a:xfrm>
            <a:off x="7187184" y="1188720"/>
            <a:ext cx="1517904" cy="1920240"/>
          </a:xfrm>
          <a:prstGeom prst="roundRect">
            <a:avLst>
              <a:gd name="adj" fmla="val 4819"/>
            </a:avLst>
          </a:prstGeom>
          <a:solidFill>
            <a:schemeClr val="tx2"/>
          </a:solidFill>
          <a:ln w="12700">
            <a:solidFill>
              <a:schemeClr val="tx2"/>
            </a:solidFill>
            <a:prstDash val="solid"/>
          </a:ln>
        </p:spPr>
      </p:sp>
      <p:sp>
        <p:nvSpPr>
          <p:cNvPr id="24" name="dot-66"/>
          <p:cNvSpPr/>
          <p:nvPr/>
        </p:nvSpPr>
        <p:spPr>
          <a:xfrm>
            <a:off x="7324344" y="1325880"/>
            <a:ext cx="384048" cy="384048"/>
          </a:xfrm>
          <a:prstGeom prst="ellipse">
            <a:avLst/>
          </a:prstGeom>
          <a:solidFill>
            <a:schemeClr val="accent2"/>
          </a:solidFill>
          <a:ln w="12700">
            <a:solidFill>
              <a:schemeClr val="accent2"/>
            </a:solidFill>
            <a:prstDash val="solid"/>
          </a:ln>
        </p:spPr>
      </p:sp>
      <p:sp>
        <p:nvSpPr>
          <p:cNvPr id="25" name="text-67"/>
          <p:cNvSpPr txBox="1"/>
          <p:nvPr/>
        </p:nvSpPr>
        <p:spPr>
          <a:xfrm>
            <a:off x="7324344"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6" name="text-68"/>
          <p:cNvSpPr txBox="1"/>
          <p:nvPr/>
        </p:nvSpPr>
        <p:spPr>
          <a:xfrm>
            <a:off x="7324344" y="1828800"/>
            <a:ext cx="1280160" cy="5029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Final evaluation</a:t>
            </a:r>
            <a:endParaRPr lang="en-US" sz="1500" dirty="0"/>
          </a:p>
        </p:txBody>
      </p:sp>
      <p:sp>
        <p:nvSpPr>
          <p:cNvPr id="27" name="text-69"/>
          <p:cNvSpPr txBox="1"/>
          <p:nvPr/>
        </p:nvSpPr>
        <p:spPr>
          <a:xfrm>
            <a:off x="7324344" y="2395728"/>
            <a:ext cx="1280160" cy="6858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3 seeds, test set used once</a:t>
            </a:r>
            <a:endParaRPr lang="en-US" sz="1200" dirty="0"/>
          </a:p>
        </p:txBody>
      </p:sp>
      <p:sp>
        <p:nvSpPr>
          <p:cNvPr id="28" name="card-70"/>
          <p:cNvSpPr/>
          <p:nvPr/>
        </p:nvSpPr>
        <p:spPr>
          <a:xfrm>
            <a:off x="457200" y="3429000"/>
            <a:ext cx="3977640" cy="1097280"/>
          </a:xfrm>
          <a:prstGeom prst="roundRect">
            <a:avLst>
              <a:gd name="adj" fmla="val 6667"/>
            </a:avLst>
          </a:prstGeom>
          <a:solidFill>
            <a:schemeClr val="bg2"/>
          </a:solidFill>
          <a:ln w="12700">
            <a:solidFill>
              <a:schemeClr val="bg2"/>
            </a:solidFill>
            <a:prstDash val="solid"/>
          </a:ln>
        </p:spPr>
      </p:sp>
      <p:sp>
        <p:nvSpPr>
          <p:cNvPr id="29" name="text-71"/>
          <p:cNvSpPr txBox="1"/>
          <p:nvPr/>
        </p:nvSpPr>
        <p:spPr>
          <a:xfrm>
            <a:off x="640080" y="3520440"/>
            <a:ext cx="365760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Main metric: macro F1-score</a:t>
            </a:r>
            <a:endParaRPr lang="en-US" sz="1600" dirty="0"/>
          </a:p>
        </p:txBody>
      </p:sp>
      <p:sp>
        <p:nvSpPr>
          <p:cNvPr id="30" name="text-72"/>
          <p:cNvSpPr txBox="1"/>
          <p:nvPr/>
        </p:nvSpPr>
        <p:spPr>
          <a:xfrm>
            <a:off x="640080" y="388620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mean of the F1-scores of the 5 classes, so every class counts equally.</a:t>
            </a:r>
            <a:endParaRPr lang="en-US" sz="1400" dirty="0"/>
          </a:p>
        </p:txBody>
      </p:sp>
      <p:sp>
        <p:nvSpPr>
          <p:cNvPr id="31" name="card-73"/>
          <p:cNvSpPr/>
          <p:nvPr/>
        </p:nvSpPr>
        <p:spPr>
          <a:xfrm>
            <a:off x="4709160" y="3429000"/>
            <a:ext cx="3977640" cy="1097280"/>
          </a:xfrm>
          <a:prstGeom prst="roundRect">
            <a:avLst>
              <a:gd name="adj" fmla="val 6667"/>
            </a:avLst>
          </a:prstGeom>
          <a:solidFill>
            <a:schemeClr val="bg2"/>
          </a:solidFill>
          <a:ln w="12700">
            <a:solidFill>
              <a:schemeClr val="bg2"/>
            </a:solidFill>
            <a:prstDash val="solid"/>
          </a:ln>
        </p:spPr>
      </p:sp>
      <p:sp>
        <p:nvSpPr>
          <p:cNvPr id="32" name="text-74"/>
          <p:cNvSpPr txBox="1"/>
          <p:nvPr/>
        </p:nvSpPr>
        <p:spPr>
          <a:xfrm>
            <a:off x="4892040" y="3520440"/>
            <a:ext cx="365760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No test-set leakage</a:t>
            </a:r>
            <a:endParaRPr lang="en-US" sz="1600" dirty="0"/>
          </a:p>
        </p:txBody>
      </p:sp>
      <p:sp>
        <p:nvSpPr>
          <p:cNvPr id="33" name="text-75"/>
          <p:cNvSpPr txBox="1"/>
          <p:nvPr/>
        </p:nvSpPr>
        <p:spPr>
          <a:xfrm>
            <a:off x="4892040" y="388620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All choices on the validation set; oversampling and augmentation on training data only.</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Main model: residual 1D CNN</a:t>
            </a:r>
            <a:endParaRPr lang="en-US" sz="3000" dirty="0"/>
          </a:p>
        </p:txBody>
      </p:sp>
      <p:pic>
        <p:nvPicPr>
          <p:cNvPr id="3" name="arch-76" descr="C:\Users\USER\Desktop\VScode\ekg-project\presentation\figures\resnet_architecture.png">    </p:cNvPr>
          <p:cNvPicPr>
            <a:picLocks noChangeAspect="1"/>
          </p:cNvPicPr>
          <p:nvPr/>
        </p:nvPicPr>
        <p:blipFill>
          <a:blip r:embed="rId1"/>
          <a:stretch>
            <a:fillRect/>
          </a:stretch>
        </p:blipFill>
        <p:spPr>
          <a:xfrm>
            <a:off x="457200" y="1097280"/>
            <a:ext cx="8229600" cy="2944053"/>
          </a:xfrm>
          <a:prstGeom prst="rect">
            <a:avLst/>
          </a:prstGeom>
        </p:spPr>
      </p:pic>
      <p:sp>
        <p:nvSpPr>
          <p:cNvPr id="4" name="text-77"/>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53,957 parameters</a:t>
            </a:r>
            <a:pPr indent="0" marL="0">
              <a:buNone/>
            </a:pPr>
            <a:r>
              <a:rPr lang="en-US" sz="1400" dirty="0">
                <a:solidFill>
                  <a:srgbClr val="52606D"/>
                </a:solidFill>
                <a:latin typeface="Calibri" pitchFamily="34" charset="0"/>
                <a:ea typeface="Calibri" pitchFamily="34" charset="-122"/>
                <a:cs typeface="Calibri" pitchFamily="34" charset="-120"/>
              </a:rPr>
              <a:t>   ·   Adam, learning rate 0.001   ·   batch 128   ·   early stopping on validation macro F1</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Handling the class imbalance</a:t>
            </a:r>
            <a:endParaRPr lang="en-US" sz="3000" dirty="0"/>
          </a:p>
        </p:txBody>
      </p:sp>
      <p:sp>
        <p:nvSpPr>
          <p:cNvPr id="3" name="card-78"/>
          <p:cNvSpPr/>
          <p:nvPr/>
        </p:nvSpPr>
        <p:spPr>
          <a:xfrm>
            <a:off x="457200" y="1097280"/>
            <a:ext cx="3931920" cy="896112"/>
          </a:xfrm>
          <a:prstGeom prst="roundRect">
            <a:avLst>
              <a:gd name="adj" fmla="val 8163"/>
            </a:avLst>
          </a:prstGeom>
          <a:solidFill>
            <a:schemeClr val="bg2"/>
          </a:solidFill>
          <a:ln w="12700">
            <a:solidFill>
              <a:schemeClr val="bg2"/>
            </a:solidFill>
            <a:prstDash val="solid"/>
          </a:ln>
        </p:spPr>
      </p:sp>
      <p:sp>
        <p:nvSpPr>
          <p:cNvPr id="4" name="dot-79"/>
          <p:cNvSpPr/>
          <p:nvPr/>
        </p:nvSpPr>
        <p:spPr>
          <a:xfrm>
            <a:off x="621792" y="1344168"/>
            <a:ext cx="402336" cy="402336"/>
          </a:xfrm>
          <a:prstGeom prst="ellipse">
            <a:avLst/>
          </a:prstGeom>
          <a:solidFill>
            <a:schemeClr val="accent1"/>
          </a:solidFill>
          <a:ln w="12700">
            <a:solidFill>
              <a:schemeClr val="accent1"/>
            </a:solidFill>
            <a:prstDash val="solid"/>
          </a:ln>
        </p:spPr>
      </p:sp>
      <p:sp>
        <p:nvSpPr>
          <p:cNvPr id="5" name="text-80"/>
          <p:cNvSpPr txBox="1"/>
          <p:nvPr/>
        </p:nvSpPr>
        <p:spPr>
          <a:xfrm>
            <a:off x="621792" y="134416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B</a:t>
            </a:r>
            <a:endParaRPr lang="en-US" sz="1500" dirty="0"/>
          </a:p>
        </p:txBody>
      </p:sp>
      <p:sp>
        <p:nvSpPr>
          <p:cNvPr id="6" name="text-81"/>
          <p:cNvSpPr txBox="1"/>
          <p:nvPr/>
        </p:nvSpPr>
        <p:spPr>
          <a:xfrm>
            <a:off x="1188720" y="1188720"/>
            <a:ext cx="3063240" cy="3200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Class weights</a:t>
            </a:r>
            <a:endParaRPr lang="en-US" sz="1600" dirty="0"/>
          </a:p>
        </p:txBody>
      </p:sp>
      <p:sp>
        <p:nvSpPr>
          <p:cNvPr id="7" name="text-82"/>
          <p:cNvSpPr txBox="1"/>
          <p:nvPr/>
        </p:nvSpPr>
        <p:spPr>
          <a:xfrm>
            <a:off x="1188720" y="1508760"/>
            <a:ext cx="3063240" cy="4389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 weight 27: recall of F up, but precision drops to 0.73</a:t>
            </a:r>
            <a:endParaRPr lang="en-US" sz="1300" dirty="0"/>
          </a:p>
        </p:txBody>
      </p:sp>
      <p:sp>
        <p:nvSpPr>
          <p:cNvPr id="8" name="card-83"/>
          <p:cNvSpPr/>
          <p:nvPr/>
        </p:nvSpPr>
        <p:spPr>
          <a:xfrm>
            <a:off x="457200" y="2121408"/>
            <a:ext cx="3931920" cy="896112"/>
          </a:xfrm>
          <a:prstGeom prst="roundRect">
            <a:avLst>
              <a:gd name="adj" fmla="val 8163"/>
            </a:avLst>
          </a:prstGeom>
          <a:solidFill>
            <a:schemeClr val="bg2"/>
          </a:solidFill>
          <a:ln w="12700">
            <a:solidFill>
              <a:schemeClr val="bg2"/>
            </a:solidFill>
            <a:prstDash val="solid"/>
          </a:ln>
        </p:spPr>
      </p:sp>
      <p:sp>
        <p:nvSpPr>
          <p:cNvPr id="9" name="dot-84"/>
          <p:cNvSpPr/>
          <p:nvPr/>
        </p:nvSpPr>
        <p:spPr>
          <a:xfrm>
            <a:off x="621792" y="2368296"/>
            <a:ext cx="402336" cy="402336"/>
          </a:xfrm>
          <a:prstGeom prst="ellipse">
            <a:avLst/>
          </a:prstGeom>
          <a:solidFill>
            <a:schemeClr val="accent1"/>
          </a:solidFill>
          <a:ln w="12700">
            <a:solidFill>
              <a:schemeClr val="accent1"/>
            </a:solidFill>
            <a:prstDash val="solid"/>
          </a:ln>
        </p:spPr>
      </p:sp>
      <p:sp>
        <p:nvSpPr>
          <p:cNvPr id="10" name="text-85"/>
          <p:cNvSpPr txBox="1"/>
          <p:nvPr/>
        </p:nvSpPr>
        <p:spPr>
          <a:xfrm>
            <a:off x="621792" y="2368296"/>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a:t>
            </a:r>
            <a:endParaRPr lang="en-US" sz="1500" dirty="0"/>
          </a:p>
        </p:txBody>
      </p:sp>
      <p:sp>
        <p:nvSpPr>
          <p:cNvPr id="11" name="text-86"/>
          <p:cNvSpPr txBox="1"/>
          <p:nvPr/>
        </p:nvSpPr>
        <p:spPr>
          <a:xfrm>
            <a:off x="1188720" y="2212848"/>
            <a:ext cx="3063240" cy="3200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Oversampling</a:t>
            </a:r>
            <a:endParaRPr lang="en-US" sz="1600" dirty="0"/>
          </a:p>
        </p:txBody>
      </p:sp>
      <p:sp>
        <p:nvSpPr>
          <p:cNvPr id="12" name="text-87"/>
          <p:cNvSpPr txBox="1"/>
          <p:nvPr/>
        </p:nvSpPr>
        <p:spPr>
          <a:xfrm>
            <a:off x="1188720" y="2532888"/>
            <a:ext cx="3063240" cy="4389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class copied to 57,977 beats: the copies are memorized</a:t>
            </a:r>
            <a:endParaRPr lang="en-US" sz="1300" dirty="0"/>
          </a:p>
        </p:txBody>
      </p:sp>
      <p:sp>
        <p:nvSpPr>
          <p:cNvPr id="13" name="card-88"/>
          <p:cNvSpPr/>
          <p:nvPr/>
        </p:nvSpPr>
        <p:spPr>
          <a:xfrm>
            <a:off x="457200" y="3145536"/>
            <a:ext cx="3931920" cy="896112"/>
          </a:xfrm>
          <a:prstGeom prst="roundRect">
            <a:avLst>
              <a:gd name="adj" fmla="val 8163"/>
            </a:avLst>
          </a:prstGeom>
          <a:solidFill>
            <a:schemeClr val="tx2"/>
          </a:solidFill>
          <a:ln w="12700">
            <a:solidFill>
              <a:schemeClr val="tx2"/>
            </a:solidFill>
            <a:prstDash val="solid"/>
          </a:ln>
        </p:spPr>
      </p:sp>
      <p:sp>
        <p:nvSpPr>
          <p:cNvPr id="14" name="dot-89"/>
          <p:cNvSpPr/>
          <p:nvPr/>
        </p:nvSpPr>
        <p:spPr>
          <a:xfrm>
            <a:off x="621792" y="3392424"/>
            <a:ext cx="402336" cy="402336"/>
          </a:xfrm>
          <a:prstGeom prst="ellipse">
            <a:avLst/>
          </a:prstGeom>
          <a:solidFill>
            <a:schemeClr val="accent2"/>
          </a:solidFill>
          <a:ln w="12700">
            <a:solidFill>
              <a:schemeClr val="accent2"/>
            </a:solidFill>
            <a:prstDash val="solid"/>
          </a:ln>
        </p:spPr>
      </p:sp>
      <p:sp>
        <p:nvSpPr>
          <p:cNvPr id="15" name="text-90"/>
          <p:cNvSpPr txBox="1"/>
          <p:nvPr/>
        </p:nvSpPr>
        <p:spPr>
          <a:xfrm>
            <a:off x="621792" y="339242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D</a:t>
            </a:r>
            <a:endParaRPr lang="en-US" sz="1500" dirty="0"/>
          </a:p>
        </p:txBody>
      </p:sp>
      <p:sp>
        <p:nvSpPr>
          <p:cNvPr id="16" name="text-91"/>
          <p:cNvSpPr txBox="1"/>
          <p:nvPr/>
        </p:nvSpPr>
        <p:spPr>
          <a:xfrm>
            <a:off x="1188720" y="3236976"/>
            <a:ext cx="3063240" cy="32004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 Augmentation</a:t>
            </a:r>
            <a:endParaRPr lang="en-US" sz="1600" dirty="0"/>
          </a:p>
        </p:txBody>
      </p:sp>
      <p:sp>
        <p:nvSpPr>
          <p:cNvPr id="17" name="text-92"/>
          <p:cNvSpPr txBox="1"/>
          <p:nvPr/>
        </p:nvSpPr>
        <p:spPr>
          <a:xfrm>
            <a:off x="1188720" y="3557016"/>
            <a:ext cx="3063240" cy="438912"/>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Shift, scaling and noise on every batch: overfitting stops</a:t>
            </a:r>
            <a:endParaRPr lang="en-US" sz="1300" dirty="0"/>
          </a:p>
        </p:txBody>
      </p:sp>
      <p:pic>
        <p:nvPicPr>
          <p:cNvPr id="18" name="valloss-93" descr="C:\Users\USER\Desktop\VScode\ekg-project\presentation\figures\val_loss_imbalance.png">    </p:cNvPr>
          <p:cNvPicPr>
            <a:picLocks noChangeAspect="1"/>
          </p:cNvPicPr>
          <p:nvPr/>
        </p:nvPicPr>
        <p:blipFill>
          <a:blip r:embed="rId1"/>
          <a:stretch>
            <a:fillRect/>
          </a:stretch>
        </p:blipFill>
        <p:spPr>
          <a:xfrm>
            <a:off x="4617720" y="1051560"/>
            <a:ext cx="4114800" cy="2636044"/>
          </a:xfrm>
          <a:prstGeom prst="rect">
            <a:avLst/>
          </a:prstGeom>
        </p:spPr>
      </p:pic>
      <p:sp>
        <p:nvSpPr>
          <p:cNvPr id="19" name="text-94"/>
          <p:cNvSpPr txBox="1"/>
          <p:nvPr/>
        </p:nvSpPr>
        <p:spPr>
          <a:xfrm>
            <a:off x="4617720" y="3749040"/>
            <a:ext cx="4114800" cy="274320"/>
          </a:xfrm>
          <a:prstGeom prst="rect">
            <a:avLst/>
          </a:prstGeom>
          <a:noFill/>
          <a:ln/>
        </p:spPr>
        <p:txBody>
          <a:bodyPr wrap="square" lIns="0" tIns="0" rIns="0" bIns="0" rtlCol="0" anchor="ctr"/>
          <a:lstStyle/>
          <a:p>
            <a:pPr algn="ctr" indent="0" marL="0">
              <a:buNone/>
            </a:pPr>
            <a:r>
              <a:rPr lang="en-US" sz="1200" dirty="0">
                <a:solidFill>
                  <a:srgbClr val="52606D"/>
                </a:solidFill>
                <a:latin typeface="Calibri" pitchFamily="34" charset="0"/>
                <a:ea typeface="Calibri" pitchFamily="34" charset="-122"/>
                <a:cs typeface="Calibri" pitchFamily="34" charset="-120"/>
              </a:rPr>
              <a:t>Validation loss of the residual CNN</a:t>
            </a:r>
            <a:endParaRPr lang="en-US" sz="1200" dirty="0"/>
          </a:p>
        </p:txBody>
      </p:sp>
      <p:sp>
        <p:nvSpPr>
          <p:cNvPr id="20" name="text-95"/>
          <p:cNvSpPr txBox="1"/>
          <p:nvPr/>
        </p:nvSpPr>
        <p:spPr>
          <a:xfrm>
            <a:off x="457200" y="4224528"/>
            <a:ext cx="822960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Final choice: D, oversampling + augmentation</a:t>
            </a:r>
            <a:endParaRPr lang="en-US" sz="16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Results on the test set</a:t>
            </a:r>
            <a:endParaRPr lang="en-US" sz="3000" dirty="0"/>
          </a:p>
        </p:txBody>
      </p:sp>
      <p:graphicFrame>
        <p:nvGraphicFramePr>
          <p:cNvPr id="3" name="chart-96" descr=""/>
          <p:cNvGraphicFramePr/>
          <p:nvPr/>
        </p:nvGraphicFramePr>
        <p:xfrm>
          <a:off x="365760" y="100584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text-97"/>
          <p:cNvSpPr txBox="1"/>
          <p:nvPr/>
        </p:nvSpPr>
        <p:spPr>
          <a:xfrm>
            <a:off x="457200" y="4462272"/>
            <a:ext cx="5029200" cy="2743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 LSTM: mean of 2 runs; one run never learned</a:t>
            </a:r>
            <a:endParaRPr lang="en-US" sz="1100" dirty="0"/>
          </a:p>
        </p:txBody>
      </p:sp>
      <p:sp>
        <p:nvSpPr>
          <p:cNvPr id="5" name="card-98"/>
          <p:cNvSpPr/>
          <p:nvPr/>
        </p:nvSpPr>
        <p:spPr>
          <a:xfrm>
            <a:off x="5806440" y="1097280"/>
            <a:ext cx="2880360" cy="960120"/>
          </a:xfrm>
          <a:prstGeom prst="roundRect">
            <a:avLst>
              <a:gd name="adj" fmla="val 7619"/>
            </a:avLst>
          </a:prstGeom>
          <a:solidFill>
            <a:schemeClr val="tx2"/>
          </a:solidFill>
          <a:ln w="12700">
            <a:solidFill>
              <a:schemeClr val="tx2"/>
            </a:solidFill>
            <a:prstDash val="solid"/>
          </a:ln>
        </p:spPr>
      </p:sp>
      <p:sp>
        <p:nvSpPr>
          <p:cNvPr id="6" name="text-99"/>
          <p:cNvSpPr txBox="1"/>
          <p:nvPr/>
        </p:nvSpPr>
        <p:spPr>
          <a:xfrm>
            <a:off x="5989320" y="1170432"/>
            <a:ext cx="25603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0.925</a:t>
            </a:r>
            <a:endParaRPr lang="en-US" sz="2800" dirty="0"/>
          </a:p>
        </p:txBody>
      </p:sp>
      <p:sp>
        <p:nvSpPr>
          <p:cNvPr id="7" name="text-100"/>
          <p:cNvSpPr txBox="1"/>
          <p:nvPr/>
        </p:nvSpPr>
        <p:spPr>
          <a:xfrm>
            <a:off x="5989320" y="1682496"/>
            <a:ext cx="2560320" cy="292608"/>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macro F1-score  (± 0.004)</a:t>
            </a:r>
            <a:endParaRPr lang="en-US" sz="1300" dirty="0"/>
          </a:p>
        </p:txBody>
      </p:sp>
      <p:sp>
        <p:nvSpPr>
          <p:cNvPr id="8" name="card-101"/>
          <p:cNvSpPr/>
          <p:nvPr/>
        </p:nvSpPr>
        <p:spPr>
          <a:xfrm>
            <a:off x="5806440" y="2212848"/>
            <a:ext cx="2880360" cy="960120"/>
          </a:xfrm>
          <a:prstGeom prst="roundRect">
            <a:avLst>
              <a:gd name="adj" fmla="val 7619"/>
            </a:avLst>
          </a:prstGeom>
          <a:solidFill>
            <a:schemeClr val="bg2"/>
          </a:solidFill>
          <a:ln w="12700">
            <a:solidFill>
              <a:schemeClr val="bg2"/>
            </a:solidFill>
            <a:prstDash val="solid"/>
          </a:ln>
        </p:spPr>
      </p:sp>
      <p:sp>
        <p:nvSpPr>
          <p:cNvPr id="9" name="text-102"/>
          <p:cNvSpPr txBox="1"/>
          <p:nvPr/>
        </p:nvSpPr>
        <p:spPr>
          <a:xfrm>
            <a:off x="5989320" y="2286000"/>
            <a:ext cx="25603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93.5%</a:t>
            </a:r>
            <a:endParaRPr lang="en-US" sz="2800" dirty="0"/>
          </a:p>
        </p:txBody>
      </p:sp>
      <p:sp>
        <p:nvSpPr>
          <p:cNvPr id="10" name="text-103"/>
          <p:cNvSpPr txBox="1"/>
          <p:nvPr/>
        </p:nvSpPr>
        <p:spPr>
          <a:xfrm>
            <a:off x="5989320" y="2798064"/>
            <a:ext cx="2560320" cy="29260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balanced accuracy  (± 0.1)</a:t>
            </a:r>
            <a:endParaRPr lang="en-US" sz="1300" dirty="0"/>
          </a:p>
        </p:txBody>
      </p:sp>
      <p:sp>
        <p:nvSpPr>
          <p:cNvPr id="11" name="card-104"/>
          <p:cNvSpPr/>
          <p:nvPr/>
        </p:nvSpPr>
        <p:spPr>
          <a:xfrm>
            <a:off x="5806440" y="3328416"/>
            <a:ext cx="2880360" cy="960120"/>
          </a:xfrm>
          <a:prstGeom prst="roundRect">
            <a:avLst>
              <a:gd name="adj" fmla="val 7619"/>
            </a:avLst>
          </a:prstGeom>
          <a:solidFill>
            <a:schemeClr val="bg2"/>
          </a:solidFill>
          <a:ln w="12700">
            <a:solidFill>
              <a:schemeClr val="bg2"/>
            </a:solidFill>
            <a:prstDash val="solid"/>
          </a:ln>
        </p:spPr>
      </p:sp>
      <p:sp>
        <p:nvSpPr>
          <p:cNvPr id="12" name="text-105"/>
          <p:cNvSpPr txBox="1"/>
          <p:nvPr/>
        </p:nvSpPr>
        <p:spPr>
          <a:xfrm>
            <a:off x="5989320" y="3401568"/>
            <a:ext cx="25603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0.86 / 0.87</a:t>
            </a:r>
            <a:endParaRPr lang="en-US" sz="2800" dirty="0"/>
          </a:p>
        </p:txBody>
      </p:sp>
      <p:sp>
        <p:nvSpPr>
          <p:cNvPr id="13" name="text-106"/>
          <p:cNvSpPr txBox="1"/>
          <p:nvPr/>
        </p:nvSpPr>
        <p:spPr>
          <a:xfrm>
            <a:off x="5989320" y="3913632"/>
            <a:ext cx="2560320" cy="29260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recall of S / F  (was 0.80 / 0.77)</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Where does the model make mistakes?</a:t>
            </a:r>
            <a:endParaRPr lang="en-US" sz="3000" dirty="0"/>
          </a:p>
        </p:txBody>
      </p:sp>
      <p:pic>
        <p:nvPicPr>
          <p:cNvPr id="3" name="cm-107" descr="C:\Users\USER\Desktop\VScode\ekg-project\results\figures\cm_final_test.png">    </p:cNvPr>
          <p:cNvPicPr>
            <a:picLocks noChangeAspect="1"/>
          </p:cNvPicPr>
          <p:nvPr/>
        </p:nvPicPr>
        <p:blipFill>
          <a:blip r:embed="rId1"/>
          <a:stretch>
            <a:fillRect/>
          </a:stretch>
        </p:blipFill>
        <p:spPr>
          <a:xfrm>
            <a:off x="457200" y="1005840"/>
            <a:ext cx="3520440" cy="3379622"/>
          </a:xfrm>
          <a:prstGeom prst="rect">
            <a:avLst/>
          </a:prstGeom>
        </p:spPr>
      </p:pic>
      <p:sp>
        <p:nvSpPr>
          <p:cNvPr id="4" name="card-108"/>
          <p:cNvSpPr/>
          <p:nvPr/>
        </p:nvSpPr>
        <p:spPr>
          <a:xfrm>
            <a:off x="4343400" y="1097280"/>
            <a:ext cx="4343400" cy="960120"/>
          </a:xfrm>
          <a:prstGeom prst="roundRect">
            <a:avLst>
              <a:gd name="adj" fmla="val 7619"/>
            </a:avLst>
          </a:prstGeom>
          <a:solidFill>
            <a:schemeClr val="bg2"/>
          </a:solidFill>
          <a:ln w="12700">
            <a:solidFill>
              <a:schemeClr val="bg2"/>
            </a:solidFill>
            <a:prstDash val="solid"/>
          </a:ln>
        </p:spPr>
      </p:sp>
      <p:sp>
        <p:nvSpPr>
          <p:cNvPr id="5" name="text-109"/>
          <p:cNvSpPr txBox="1"/>
          <p:nvPr/>
        </p:nvSpPr>
        <p:spPr>
          <a:xfrm>
            <a:off x="4526280" y="1188720"/>
            <a:ext cx="4023360" cy="3200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12% of S beats → N</a:t>
            </a:r>
            <a:endParaRPr lang="en-US" sz="1600" dirty="0"/>
          </a:p>
        </p:txBody>
      </p:sp>
      <p:sp>
        <p:nvSpPr>
          <p:cNvPr id="6" name="text-110"/>
          <p:cNvSpPr txBox="1"/>
          <p:nvPr/>
        </p:nvSpPr>
        <p:spPr>
          <a:xfrm>
            <a:off x="4526280" y="1508760"/>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 beats look like normal beats; they differ mainly in timing (they come too early), which a single beat does not show.</a:t>
            </a:r>
            <a:endParaRPr lang="en-US" sz="1300" dirty="0"/>
          </a:p>
        </p:txBody>
      </p:sp>
      <p:sp>
        <p:nvSpPr>
          <p:cNvPr id="7" name="card-111"/>
          <p:cNvSpPr/>
          <p:nvPr/>
        </p:nvSpPr>
        <p:spPr>
          <a:xfrm>
            <a:off x="4343400" y="2212848"/>
            <a:ext cx="4343400" cy="960120"/>
          </a:xfrm>
          <a:prstGeom prst="roundRect">
            <a:avLst>
              <a:gd name="adj" fmla="val 7619"/>
            </a:avLst>
          </a:prstGeom>
          <a:solidFill>
            <a:schemeClr val="bg2"/>
          </a:solidFill>
          <a:ln w="12700">
            <a:solidFill>
              <a:schemeClr val="bg2"/>
            </a:solidFill>
            <a:prstDash val="solid"/>
          </a:ln>
        </p:spPr>
      </p:sp>
      <p:sp>
        <p:nvSpPr>
          <p:cNvPr id="8" name="text-112"/>
          <p:cNvSpPr txBox="1"/>
          <p:nvPr/>
        </p:nvSpPr>
        <p:spPr>
          <a:xfrm>
            <a:off x="4526280" y="2304288"/>
            <a:ext cx="4023360" cy="3200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7% of F beats → V</a:t>
            </a:r>
            <a:endParaRPr lang="en-US" sz="1600" dirty="0"/>
          </a:p>
        </p:txBody>
      </p:sp>
      <p:sp>
        <p:nvSpPr>
          <p:cNvPr id="9" name="text-113"/>
          <p:cNvSpPr txBox="1"/>
          <p:nvPr/>
        </p:nvSpPr>
        <p:spPr>
          <a:xfrm>
            <a:off x="4526280" y="2624328"/>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fusion beat is a mixture of a ventricular and a normal beat.</a:t>
            </a:r>
            <a:endParaRPr lang="en-US" sz="1300" dirty="0"/>
          </a:p>
        </p:txBody>
      </p:sp>
      <p:sp>
        <p:nvSpPr>
          <p:cNvPr id="10" name="card-114"/>
          <p:cNvSpPr/>
          <p:nvPr/>
        </p:nvSpPr>
        <p:spPr>
          <a:xfrm>
            <a:off x="4343400" y="3328416"/>
            <a:ext cx="4343400" cy="960120"/>
          </a:xfrm>
          <a:prstGeom prst="roundRect">
            <a:avLst>
              <a:gd name="adj" fmla="val 7619"/>
            </a:avLst>
          </a:prstGeom>
          <a:solidFill>
            <a:schemeClr val="bg2"/>
          </a:solidFill>
          <a:ln w="12700">
            <a:solidFill>
              <a:schemeClr val="bg2"/>
            </a:solidFill>
            <a:prstDash val="solid"/>
          </a:ln>
        </p:spPr>
      </p:sp>
      <p:sp>
        <p:nvSpPr>
          <p:cNvPr id="11" name="text-115"/>
          <p:cNvSpPr txBox="1"/>
          <p:nvPr/>
        </p:nvSpPr>
        <p:spPr>
          <a:xfrm>
            <a:off x="4526280" y="3419856"/>
            <a:ext cx="4023360" cy="3200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N, V and Q</a:t>
            </a:r>
            <a:endParaRPr lang="en-US" sz="1600" dirty="0"/>
          </a:p>
        </p:txBody>
      </p:sp>
      <p:sp>
        <p:nvSpPr>
          <p:cNvPr id="12" name="text-116"/>
          <p:cNvSpPr txBox="1"/>
          <p:nvPr/>
        </p:nvSpPr>
        <p:spPr>
          <a:xfrm>
            <a:off x="4526280" y="3739896"/>
            <a:ext cx="402336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Recognized almost perfectly (recall of 96% or more).</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rPr>
              <a:t>Comparison and limitations</a:t>
            </a:r>
            <a:endParaRPr lang="en-US" sz="3000" dirty="0"/>
          </a:p>
        </p:txBody>
      </p:sp>
      <p:sp>
        <p:nvSpPr>
          <p:cNvPr id="3" name="card-117"/>
          <p:cNvSpPr/>
          <p:nvPr/>
        </p:nvSpPr>
        <p:spPr>
          <a:xfrm>
            <a:off x="457200" y="1097280"/>
            <a:ext cx="3931920" cy="1417320"/>
          </a:xfrm>
          <a:prstGeom prst="roundRect">
            <a:avLst>
              <a:gd name="adj" fmla="val 5161"/>
            </a:avLst>
          </a:prstGeom>
          <a:solidFill>
            <a:schemeClr val="bg2"/>
          </a:solidFill>
          <a:ln w="12700">
            <a:solidFill>
              <a:schemeClr val="bg2"/>
            </a:solidFill>
            <a:prstDash val="solid"/>
          </a:ln>
        </p:spPr>
      </p:sp>
      <p:sp>
        <p:nvSpPr>
          <p:cNvPr id="4" name="text-118"/>
          <p:cNvSpPr txBox="1"/>
          <p:nvPr/>
        </p:nvSpPr>
        <p:spPr>
          <a:xfrm>
            <a:off x="640080" y="1188720"/>
            <a:ext cx="1737360" cy="548640"/>
          </a:xfrm>
          <a:prstGeom prst="rect">
            <a:avLst/>
          </a:prstGeom>
          <a:noFill/>
          <a:ln/>
        </p:spPr>
        <p:txBody>
          <a:bodyPr wrap="square" lIns="0" tIns="0" rIns="0" bIns="0" rtlCol="0" anchor="ctr"/>
          <a:lstStyle/>
          <a:p>
            <a:pPr indent="0" marL="0">
              <a:buNone/>
            </a:pPr>
            <a:r>
              <a:rPr lang="en-US" sz="3000" b="1" dirty="0">
                <a:solidFill>
                  <a:srgbClr val="52606D"/>
                </a:solidFill>
                <a:latin typeface="Cambria" pitchFamily="34" charset="0"/>
                <a:ea typeface="Cambria" pitchFamily="34" charset="-122"/>
                <a:cs typeface="Cambria" pitchFamily="34" charset="-120"/>
              </a:rPr>
              <a:t>93.4%</a:t>
            </a:r>
            <a:endParaRPr lang="en-US" sz="3000" dirty="0"/>
          </a:p>
        </p:txBody>
      </p:sp>
      <p:sp>
        <p:nvSpPr>
          <p:cNvPr id="5" name="text-119"/>
          <p:cNvSpPr txBox="1"/>
          <p:nvPr/>
        </p:nvSpPr>
        <p:spPr>
          <a:xfrm>
            <a:off x="640080" y="1755648"/>
            <a:ext cx="356616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Kachuee et al. (2018)</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average accuracy, balanced test set</a:t>
            </a:r>
            <a:endParaRPr lang="en-US" sz="1300" dirty="0"/>
          </a:p>
        </p:txBody>
      </p:sp>
      <p:sp>
        <p:nvSpPr>
          <p:cNvPr id="6" name="card-120"/>
          <p:cNvSpPr/>
          <p:nvPr/>
        </p:nvSpPr>
        <p:spPr>
          <a:xfrm>
            <a:off x="457200" y="2697480"/>
            <a:ext cx="3931920" cy="1417320"/>
          </a:xfrm>
          <a:prstGeom prst="roundRect">
            <a:avLst>
              <a:gd name="adj" fmla="val 5161"/>
            </a:avLst>
          </a:prstGeom>
          <a:solidFill>
            <a:schemeClr val="tx2"/>
          </a:solidFill>
          <a:ln w="12700">
            <a:solidFill>
              <a:schemeClr val="tx2"/>
            </a:solidFill>
            <a:prstDash val="solid"/>
          </a:ln>
        </p:spPr>
      </p:sp>
      <p:sp>
        <p:nvSpPr>
          <p:cNvPr id="7" name="text-121"/>
          <p:cNvSpPr txBox="1"/>
          <p:nvPr/>
        </p:nvSpPr>
        <p:spPr>
          <a:xfrm>
            <a:off x="640080" y="2788920"/>
            <a:ext cx="17373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93.5%</a:t>
            </a:r>
            <a:endParaRPr lang="en-US" sz="3000" dirty="0"/>
          </a:p>
        </p:txBody>
      </p:sp>
      <p:sp>
        <p:nvSpPr>
          <p:cNvPr id="8" name="text-122"/>
          <p:cNvSpPr txBox="1"/>
          <p:nvPr/>
        </p:nvSpPr>
        <p:spPr>
          <a:xfrm>
            <a:off x="640080" y="3355848"/>
            <a:ext cx="3566160" cy="6858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This work</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balanced accuracy, official test set</a:t>
            </a:r>
            <a:endParaRPr lang="en-US" sz="1300" dirty="0"/>
          </a:p>
        </p:txBody>
      </p:sp>
      <p:sp>
        <p:nvSpPr>
          <p:cNvPr id="9" name="text-123"/>
          <p:cNvSpPr txBox="1"/>
          <p:nvPr/>
        </p:nvSpPr>
        <p:spPr>
          <a:xfrm>
            <a:off x="457200" y="4206240"/>
            <a:ext cx="3931920" cy="457200"/>
          </a:xfrm>
          <a:prstGeom prst="rect">
            <a:avLst/>
          </a:prstGeom>
          <a:noFill/>
          <a:ln/>
        </p:spPr>
        <p:txBody>
          <a:bodyPr wrap="square" lIns="0" tIns="0" rIns="0" bIns="0" rtlCol="0" anchor="t"/>
          <a:lstStyle/>
          <a:p>
            <a:pPr indent="0" marL="0">
              <a:buNone/>
            </a:pPr>
            <a:r>
              <a:rPr lang="en-US" sz="1200" dirty="0">
                <a:solidFill>
                  <a:srgbClr val="52606D"/>
                </a:solidFill>
                <a:latin typeface="Calibri" pitchFamily="34" charset="0"/>
                <a:ea typeface="Calibri" pitchFamily="34" charset="-122"/>
                <a:cs typeface="Calibri" pitchFamily="34" charset="-120"/>
              </a:rPr>
              <a:t>Plain accuracy (98.6%) is high only because 83% of the test beats are normal.</a:t>
            </a:r>
            <a:endParaRPr lang="en-US" sz="1200" dirty="0"/>
          </a:p>
        </p:txBody>
      </p:sp>
      <p:sp>
        <p:nvSpPr>
          <p:cNvPr id="10" name="dot-124"/>
          <p:cNvSpPr/>
          <p:nvPr/>
        </p:nvSpPr>
        <p:spPr>
          <a:xfrm>
            <a:off x="4754880" y="1133856"/>
            <a:ext cx="347472" cy="347472"/>
          </a:xfrm>
          <a:prstGeom prst="ellipse">
            <a:avLst/>
          </a:prstGeom>
          <a:solidFill>
            <a:schemeClr val="accent6"/>
          </a:solidFill>
          <a:ln w="12700">
            <a:solidFill>
              <a:schemeClr val="accent6"/>
            </a:solidFill>
            <a:prstDash val="solid"/>
          </a:ln>
        </p:spPr>
      </p:sp>
      <p:sp>
        <p:nvSpPr>
          <p:cNvPr id="11" name="text-125"/>
          <p:cNvSpPr txBox="1"/>
          <p:nvPr/>
        </p:nvSpPr>
        <p:spPr>
          <a:xfrm>
            <a:off x="4754880" y="1133856"/>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12" name="text-126"/>
          <p:cNvSpPr txBox="1"/>
          <p:nvPr/>
        </p:nvSpPr>
        <p:spPr>
          <a:xfrm>
            <a:off x="5257800" y="1097280"/>
            <a:ext cx="3429000" cy="3200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Beat-based split</a:t>
            </a:r>
            <a:endParaRPr lang="en-US" sz="1600" dirty="0"/>
          </a:p>
        </p:txBody>
      </p:sp>
      <p:sp>
        <p:nvSpPr>
          <p:cNvPr id="13" name="text-127"/>
          <p:cNvSpPr txBox="1"/>
          <p:nvPr/>
        </p:nvSpPr>
        <p:spPr>
          <a:xfrm>
            <a:off x="5257800" y="1426464"/>
            <a:ext cx="34290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Beats of one patient can be in training and test; results are optimistic for new patients.</a:t>
            </a:r>
            <a:endParaRPr lang="en-US" sz="1300" dirty="0"/>
          </a:p>
        </p:txBody>
      </p:sp>
      <p:sp>
        <p:nvSpPr>
          <p:cNvPr id="14" name="dot-128"/>
          <p:cNvSpPr/>
          <p:nvPr/>
        </p:nvSpPr>
        <p:spPr>
          <a:xfrm>
            <a:off x="4754880" y="2157984"/>
            <a:ext cx="347472" cy="347472"/>
          </a:xfrm>
          <a:prstGeom prst="ellipse">
            <a:avLst/>
          </a:prstGeom>
          <a:solidFill>
            <a:schemeClr val="accent6"/>
          </a:solidFill>
          <a:ln w="12700">
            <a:solidFill>
              <a:schemeClr val="accent6"/>
            </a:solidFill>
            <a:prstDash val="solid"/>
          </a:ln>
        </p:spPr>
      </p:sp>
      <p:sp>
        <p:nvSpPr>
          <p:cNvPr id="15" name="text-129"/>
          <p:cNvSpPr txBox="1"/>
          <p:nvPr/>
        </p:nvSpPr>
        <p:spPr>
          <a:xfrm>
            <a:off x="4754880" y="2157984"/>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6" name="text-130"/>
          <p:cNvSpPr txBox="1"/>
          <p:nvPr/>
        </p:nvSpPr>
        <p:spPr>
          <a:xfrm>
            <a:off x="5257800" y="2121408"/>
            <a:ext cx="3429000" cy="3200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No rhythm information</a:t>
            </a:r>
            <a:endParaRPr lang="en-US" sz="1600" dirty="0"/>
          </a:p>
        </p:txBody>
      </p:sp>
      <p:sp>
        <p:nvSpPr>
          <p:cNvPr id="17" name="text-131"/>
          <p:cNvSpPr txBox="1"/>
          <p:nvPr/>
        </p:nvSpPr>
        <p:spPr>
          <a:xfrm>
            <a:off x="5257800" y="2450592"/>
            <a:ext cx="34290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model sees one beat, not the R-R interval.</a:t>
            </a:r>
            <a:endParaRPr lang="en-US" sz="1300" dirty="0"/>
          </a:p>
        </p:txBody>
      </p:sp>
      <p:sp>
        <p:nvSpPr>
          <p:cNvPr id="18" name="dot-132"/>
          <p:cNvSpPr/>
          <p:nvPr/>
        </p:nvSpPr>
        <p:spPr>
          <a:xfrm>
            <a:off x="4754880" y="3182112"/>
            <a:ext cx="347472" cy="347472"/>
          </a:xfrm>
          <a:prstGeom prst="ellipse">
            <a:avLst/>
          </a:prstGeom>
          <a:solidFill>
            <a:schemeClr val="accent6"/>
          </a:solidFill>
          <a:ln w="12700">
            <a:solidFill>
              <a:schemeClr val="accent6"/>
            </a:solidFill>
            <a:prstDash val="solid"/>
          </a:ln>
        </p:spPr>
      </p:sp>
      <p:sp>
        <p:nvSpPr>
          <p:cNvPr id="19" name="text-133"/>
          <p:cNvSpPr txBox="1"/>
          <p:nvPr/>
        </p:nvSpPr>
        <p:spPr>
          <a:xfrm>
            <a:off x="4754880" y="3182112"/>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20" name="text-134"/>
          <p:cNvSpPr txBox="1"/>
          <p:nvPr/>
        </p:nvSpPr>
        <p:spPr>
          <a:xfrm>
            <a:off x="5257800" y="3145536"/>
            <a:ext cx="3429000" cy="3200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LSTM</a:t>
            </a:r>
            <a:endParaRPr lang="en-US" sz="1600" dirty="0"/>
          </a:p>
        </p:txBody>
      </p:sp>
      <p:sp>
        <p:nvSpPr>
          <p:cNvPr id="21" name="text-135"/>
          <p:cNvSpPr txBox="1"/>
          <p:nvPr/>
        </p:nvSpPr>
        <p:spPr>
          <a:xfrm>
            <a:off x="5257800" y="3474720"/>
            <a:ext cx="342900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Slow on a CPU and unstable: one of three runs failed.</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77240"/>
          </a:xfrm>
          <a:prstGeom prst="rect">
            <a:avLst/>
          </a:prstGeom>
          <a:noFill/>
          <a:ln/>
        </p:spPr>
        <p:txBody>
          <a:bodyPr wrap="square" rtlCol="0" anchor="ctr"/>
          <a:lstStyle/>
          <a:p>
            <a:pPr algn="l" indent="0" marL="0">
              <a:buNone/>
            </a:pPr>
            <a:r>
              <a:rPr lang="en-US" sz="3400" b="1" dirty="0">
                <a:solidFill>
                  <a:schemeClr val="bg1"/>
                </a:solidFill>
              </a:rPr>
              <a:t>Conclusion</a:t>
            </a:r>
            <a:endParaRPr lang="en-US" sz="3400" dirty="0"/>
          </a:p>
        </p:txBody>
      </p:sp>
      <p:sp>
        <p:nvSpPr>
          <p:cNvPr id="3" name="dot-136"/>
          <p:cNvSpPr/>
          <p:nvPr/>
        </p:nvSpPr>
        <p:spPr>
          <a:xfrm>
            <a:off x="548640" y="1508760"/>
            <a:ext cx="384048" cy="384048"/>
          </a:xfrm>
          <a:prstGeom prst="ellipse">
            <a:avLst/>
          </a:prstGeom>
          <a:solidFill>
            <a:schemeClr val="accent2"/>
          </a:solidFill>
          <a:ln w="12700">
            <a:solidFill>
              <a:schemeClr val="accent2"/>
            </a:solidFill>
            <a:prstDash val="solid"/>
          </a:ln>
        </p:spPr>
      </p:sp>
      <p:sp>
        <p:nvSpPr>
          <p:cNvPr id="4" name="text-137"/>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5" name="text-138"/>
          <p:cNvSpPr txBox="1"/>
          <p:nvPr/>
        </p:nvSpPr>
        <p:spPr>
          <a:xfrm>
            <a:off x="1097280" y="1417320"/>
            <a:ext cx="7498080" cy="59436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CNNs learn the beat shape best: macro F1 0.925, ahead of random forest (0.890) and LSTM (0.875)</a:t>
            </a:r>
            <a:endParaRPr lang="en-US" sz="1500" dirty="0"/>
          </a:p>
        </p:txBody>
      </p:sp>
      <p:sp>
        <p:nvSpPr>
          <p:cNvPr id="6" name="dot-139"/>
          <p:cNvSpPr/>
          <p:nvPr/>
        </p:nvSpPr>
        <p:spPr>
          <a:xfrm>
            <a:off x="548640" y="2377440"/>
            <a:ext cx="384048" cy="384048"/>
          </a:xfrm>
          <a:prstGeom prst="ellipse">
            <a:avLst/>
          </a:prstGeom>
          <a:solidFill>
            <a:schemeClr val="accent2"/>
          </a:solidFill>
          <a:ln w="12700">
            <a:solidFill>
              <a:schemeClr val="accent2"/>
            </a:solidFill>
            <a:prstDash val="solid"/>
          </a:ln>
        </p:spPr>
      </p:sp>
      <p:sp>
        <p:nvSpPr>
          <p:cNvPr id="7" name="text-140"/>
          <p:cNvSpPr txBox="1"/>
          <p:nvPr/>
        </p:nvSpPr>
        <p:spPr>
          <a:xfrm>
            <a:off x="548640" y="23774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8" name="text-141"/>
          <p:cNvSpPr txBox="1"/>
          <p:nvPr/>
        </p:nvSpPr>
        <p:spPr>
          <a:xfrm>
            <a:off x="1097280" y="2286000"/>
            <a:ext cx="7498080" cy="59436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Oversampling + augmentation mainly helps the rare classes: F recall 0.77 → 0.87, and training is more stable</a:t>
            </a:r>
            <a:endParaRPr lang="en-US" sz="1500" dirty="0"/>
          </a:p>
        </p:txBody>
      </p:sp>
      <p:sp>
        <p:nvSpPr>
          <p:cNvPr id="9" name="dot-142"/>
          <p:cNvSpPr/>
          <p:nvPr/>
        </p:nvSpPr>
        <p:spPr>
          <a:xfrm>
            <a:off x="548640" y="3246120"/>
            <a:ext cx="384048" cy="384048"/>
          </a:xfrm>
          <a:prstGeom prst="ellipse">
            <a:avLst/>
          </a:prstGeom>
          <a:solidFill>
            <a:schemeClr val="accent2"/>
          </a:solidFill>
          <a:ln w="12700">
            <a:solidFill>
              <a:schemeClr val="accent2"/>
            </a:solidFill>
            <a:prstDash val="solid"/>
          </a:ln>
        </p:spPr>
      </p:sp>
      <p:sp>
        <p:nvSpPr>
          <p:cNvPr id="10" name="text-143"/>
          <p:cNvSpPr txBox="1"/>
          <p:nvPr/>
        </p:nvSpPr>
        <p:spPr>
          <a:xfrm>
            <a:off x="548640" y="32461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1" name="text-144"/>
          <p:cNvSpPr txBox="1"/>
          <p:nvPr/>
        </p:nvSpPr>
        <p:spPr>
          <a:xfrm>
            <a:off x="1097280" y="3154680"/>
            <a:ext cx="7498080" cy="59436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Next steps: inter-patient evaluation and adding R-R interval information</a:t>
            </a:r>
            <a:endParaRPr lang="en-US" sz="1500" dirty="0"/>
          </a:p>
        </p:txBody>
      </p:sp>
      <p:sp>
        <p:nvSpPr>
          <p:cNvPr id="12" name="text-145"/>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Thank you  ·  Questions?        github.com/ahmetertaul/ecg-project</a:t>
            </a:r>
            <a:endParaRPr lang="en-US" sz="1400" dirty="0"/>
          </a:p>
        </p:txBody>
      </p:sp>
    </p:spTree>
  </p:cSld>
  <p:clrMapOvr>
    <a:masterClrMapping/>
  </p:clrMapOvr>
</p:sld>
</file>

<file path=ppt/theme/theme1.xml><?xml version="1.0" encoding="utf-8"?>
<a:theme xmlns:a="http://schemas.openxmlformats.org/drawingml/2006/main" name="ECG Heartbeats">
  <a:themeElements>
    <a:clrScheme name="ECG Heartbeats">
      <a:dk1>
        <a:srgbClr val="1F2933"/>
      </a:dk1>
      <a:lt1>
        <a:srgbClr val="FFFFFF"/>
      </a:lt1>
      <a:dk2>
        <a:srgbClr val="0F2A44"/>
      </a:dk2>
      <a:lt2>
        <a:srgbClr val="EEF2F6"/>
      </a:lt2>
      <a:accent1>
        <a:srgbClr val="2A78D6"/>
      </a:accent1>
      <a:accent2>
        <a:srgbClr val="EB6834"/>
      </a:accent2>
      <a:accent3>
        <a:srgbClr val="1BAF7A"/>
      </a:accent3>
      <a:accent4>
        <a:srgbClr val="EDA100"/>
      </a:accent4>
      <a:accent5>
        <a:srgbClr val="E87BA4"/>
      </a:accent5>
      <a:accent6>
        <a:srgbClr val="52606D"/>
      </a:accent6>
      <a:hlink>
        <a:srgbClr val="2A78D6"/>
      </a:hlink>
      <a:folHlink>
        <a:srgbClr val="6D2E46"/>
      </a:folHlink>
    </a:clrScheme>
    <a:fontScheme name="ECG Heartbea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Arrhythmia Classification of Individual ECG Heartbeats</dc:title>
  <dc:subject>PptxGenJS Presentation</dc:subject>
  <dc:creator>Ziya Ahmet Ertaul</dc:creator>
  <cp:lastModifiedBy>Ziya Ahmet Ertaul</cp:lastModifiedBy>
  <cp:revision>1</cp:revision>
  <dcterms:created xsi:type="dcterms:W3CDTF">2026-10-28T15:31:25Z</dcterms:created>
  <dcterms:modified xsi:type="dcterms:W3CDTF">2026-10-28T15:31:25Z</dcterms:modified>
</cp:coreProperties>
</file>